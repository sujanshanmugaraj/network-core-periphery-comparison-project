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question" id="{5c22cd99-dfe3-a290-bf73-e0f1ea8cd939}">
          <p14:sldIdLst>
            <p14:sldId id="256"/>
            <p14:sldId id="257"/>
            <p14:sldId id="258"/>
          </p14:sldIdLst>
        </p14:section>
        <p14:section name="Data and methods" id="{aecf0cd1-3a02-7321-4a11-25c4adef9b71}">
          <p14:sldIdLst>
            <p14:sldId id="259"/>
            <p14:sldId id="260"/>
          </p14:sldIdLst>
        </p14:section>
        <p14:section name="RQ1 · Agreement" id="{e9e2dc2e-7ad6-1849-2497-fb018080e085}">
          <p14:sldIdLst>
            <p14:sldId id="261"/>
            <p14:sldId id="262"/>
            <p14:sldId id="263"/>
          </p14:sldIdLst>
        </p14:section>
        <p14:section name="RQ2 and RQ3 · Robustness" id="{26c94148-82b4-68d8-94d9-cf5c21b9734a}">
          <p14:sldIdLst>
            <p14:sldId id="264"/>
            <p14:sldId id="265"/>
            <p14:sldId id="266"/>
          </p14:sldIdLst>
        </p14:section>
        <p14:section name="Conclusions" id="{ad76da90-148d-8c4b-f184-1e6b9e84202f}">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every network analysis eventually asks which nodes form the core. Two traditions answer differently. Core–periphery models and k-cores say the core is where ties are dense. Structural cohesion, from Moody and White, says the core is what is hardest to pull apart. Our project asks whether these two answers agree, and which one points at the nodes that really hold a network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traditions rarely cite each other. Core–periphery models reward density: many ties, especially among core nodes. Cohesion asks a different question: how many nodes must I remove to disconnect this group? Every k-component lies inside the k-core, but not the other way round. Our three research questions: how much do they agree, which one identifies nodes that matter for keeping the network connected, and does combining them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toy example is the whole paper in miniature. Both measures give every node the value 2, so node rankings agree. But the k-core sees one group while cohesion sees two overlapping groups whose overlap, node X, is a broker. The karate club on the right shows the same thing on real data: coreness and cohesion level coincide at every node, yet the cohesion hierarchy singles out one broker. Proposition 3 in the paper: two k-components share fewer than k nodes, so brokers are always small glue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picked networks with very different structure: dense well-mixed social networks, highly clustered collaboration and protein networks, and a sparse spatial power grid. Everything is converted to simple undirected graphs and we keep the largest component. Methods compared: degree, betweenness, adaptive degree, k-core, Borgatti–Everett, Rombach, cohesion level and our new cohesive brokerage score. The yardstick is the Schneider robustness index R. For statistics, eight networks is a small sample, so we report effect sizes and do not oversell p-values.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methods contribution we did not plan. NetworkX's k_components is the standard tool, but on Les Misérables it returns a 32-node 3-component that sits strictly inside a 3-connected 34-node set, so it is not maximal. We wrote an exact algorithm. Splitting along any cut smaller than k is safe because a k-component cannot be disconnected by fewer than k nodes. Most connectivity checks are certified without max-flow using common neighbours or a bootstrap-percolation-style closure, which is proven in Lemma 1. The rest uses a fast Numba max-flow. Facebook takes 83 seconds; before our flow code it did not finish in 30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result. The inequality cohesion ≤ coreness always holds, and in real networks it is almost always tight. k-coreness and cohesion level rank nodes practically identically, so if all you need is a node ranking, the cheap k-core is an excellent proxy. Borgatti–Everett is a different animal: its binary labels correlate only weakly with cohesion. Rombach sits in between, and is weakest on the power grid. Our hypothesis H1 said agreement would be lower in spatial networks; that holds for the CP models but not for the k-core.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the notions really differ. For every k we count how many connected groups the k-core has, and how many k-components. In Email-EU and C. elegans the lines coincide: every k-core group is fully cohesive. In GrQc, Facebook, Yeast and the power grid, a single k-core splits into many overlapping cohesive groups. Fragmentation grows with network size, so we do not interpret it alone. The size-normalised group Jaccard tracks transitivity and assortativity instead, and the null model on the next slide separates structure from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the group-level gap just a consequence of the degree sequence? We rewire each network 100 times keeping every node's degree. In the rewired copies the gap disappears: k-cores become fully cohesive, fragmentation goes to 1 and brokers vanish, exactly as Łuczak's 1991 theorem says for random graphs. For GrQc, Facebook, Yeast and the power grid the real values lie above all 100 copies, the strongest result a 100-sample test can give. A side finding: the Borgatti–Everett fit is lower in the real networks than in their random versions — so it is the cohesion structure, not the density-based core–periphery fit, that carries non-random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Robustness: remove nodes in score order and watch the giant component. Because coreness and cohesion are the same ranking, their attacks are the same — H2 fails, and both are worse than plain degree. But a new score from the cohesion hierarchy, cohesive brokerage, the number of extra k-components a node belongs to, beats both in every network and cuts R by a third or more on Facebook, GrQc and Yeast. The gain is largest exactly where the group-level disagreement is large. It is not a universal winner: betweenness and adaptive degree remain strong baselines, and we say so. With eight networks and Holm correction no p-value goes below about 0.09, so we rely on effect sizes: rank-biserial −1 versus k-core.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objection: brokerage at k = 2 is just articulation points, which everyone knows are critical. This ablation answers it. Classical articulation points cut off tree branches; on the power grid removing them first is much worse than degree. On Facebook, the entire gain comes from brokers at k of 3 or more, i.e. small sets that glue together dense friend circles. On Yeast, neither part alone is enough; only the full multi-level hierarchy gets to 0.185. So the contribution needs structural cohesion proper, not just biconnectivity.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planned a hybrid score and evaluated it properly: λ is chosen on training networks and reported only on held-out networks, both with a domain-stratified 2-fold split and leave-one-network-out. The core-plus-cohesion hybrid never beats its better component — unsurprising once we know the two are the same ranking. For core-plus-brokerage the training folds always choose λ = 0. We report this negative result openly: it is exactly the overfitting trap the held-out design was built to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If you only need a ranking of nodes, the k-core is enough — it matches cohesion levels almost perfectly at linear cost. If you care about how the core is organised, compute cohesion: a k-core can be a federation of cohesive groups. And if you care about vulnerability, the brokers between those groups are where to look. Limitations: eight networks, static attacks, unweighted undirected graphs, and a null model that preserves degrees but not clustering. Future work: an adaptive version of brokerage, weighted cohesion, and clustering-preserving null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920240"/>
            <a:ext cx="8412480" cy="2103120"/>
          </a:xfrm>
          <a:prstGeom prst="rect">
            <a:avLst/>
          </a:prstGeom>
          <a:noFill/>
          <a:ln/>
        </p:spPr>
        <p:txBody>
          <a:bodyPr wrap="square" rtlCol="0"/>
          <a:lstStyle>
            <a:lvl1pPr algn="l" indent="0" marL="0">
              <a:buNone/>
              <a:defRPr lang="en-US" sz="6400" b="1" dirty="0">
                <a:solidFill>
                  <a:schemeClr val="bg1"/>
                </a:solidFill>
              </a:defRPr>
            </a:lvl1pPr>
          </a:lstStyle>
          <a:p>
            <a:pPr algn="l" indent="0" marL="0">
              <a:buNone/>
            </a:pPr>
            <a:endParaRPr lang="en-US" sz="6400" dirty="0"/>
          </a:p>
        </p:txBody>
      </p:sp>
      <p:sp>
        <p:nvSpPr>
          <p:cNvPr id="3" name="Text 0"/>
          <p:cNvSpPr/>
          <p:nvPr>
            <p:ph idx="101" type="body" hasCustomPrompt="1"/>
          </p:nvPr>
        </p:nvSpPr>
        <p:spPr>
          <a:xfrm>
            <a:off x="822960" y="4160520"/>
            <a:ext cx="9875520" cy="822960"/>
          </a:xfrm>
          <a:prstGeom prst="rect">
            <a:avLst/>
          </a:prstGeom>
          <a:noFill/>
          <a:ln/>
        </p:spPr>
        <p:txBody>
          <a:bodyPr wrap="square" rtlCol="0"/>
          <a:lstStyle>
            <a:lvl1pPr algn="l" indent="0" marL="0">
              <a:buNone/>
              <a:defRPr lang="en-US" sz="2200" dirty="0">
                <a:solidFill>
                  <a:schemeClr val="accent5"/>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11430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11430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12801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Edge L1-L2"/>
          <p:cNvSpPr/>
          <p:nvPr/>
        </p:nvSpPr>
        <p:spPr>
          <a:xfrm>
            <a:off x="9098280" y="502920"/>
            <a:ext cx="0" cy="1371600"/>
          </a:xfrm>
          <a:prstGeom prst="line">
            <a:avLst/>
          </a:prstGeom>
          <a:noFill/>
          <a:ln w="22225">
            <a:solidFill>
              <a:schemeClr val="accent5"/>
            </a:solidFill>
            <a:prstDash val="solid"/>
          </a:ln>
        </p:spPr>
      </p:sp>
      <p:sp>
        <p:nvSpPr>
          <p:cNvPr id="4" name="Edge L1-X"/>
          <p:cNvSpPr/>
          <p:nvPr/>
        </p:nvSpPr>
        <p:spPr>
          <a:xfrm>
            <a:off x="9098280" y="502920"/>
            <a:ext cx="1005840" cy="685800"/>
          </a:xfrm>
          <a:prstGeom prst="line">
            <a:avLst/>
          </a:prstGeom>
          <a:noFill/>
          <a:ln w="22225">
            <a:solidFill>
              <a:schemeClr val="accent5"/>
            </a:solidFill>
            <a:prstDash val="solid"/>
          </a:ln>
        </p:spPr>
      </p:sp>
      <p:sp>
        <p:nvSpPr>
          <p:cNvPr id="5" name="Edge L2-X"/>
          <p:cNvSpPr/>
          <p:nvPr/>
        </p:nvSpPr>
        <p:spPr>
          <a:xfrm flipV="1">
            <a:off x="9098280" y="1188720"/>
            <a:ext cx="1005840" cy="685800"/>
          </a:xfrm>
          <a:prstGeom prst="line">
            <a:avLst/>
          </a:prstGeom>
          <a:noFill/>
          <a:ln w="22225">
            <a:solidFill>
              <a:schemeClr val="accent5"/>
            </a:solidFill>
            <a:prstDash val="solid"/>
          </a:ln>
        </p:spPr>
      </p:sp>
      <p:sp>
        <p:nvSpPr>
          <p:cNvPr id="6" name="Edge R1-R2"/>
          <p:cNvSpPr/>
          <p:nvPr/>
        </p:nvSpPr>
        <p:spPr>
          <a:xfrm>
            <a:off x="11109960" y="502920"/>
            <a:ext cx="0" cy="1371600"/>
          </a:xfrm>
          <a:prstGeom prst="line">
            <a:avLst/>
          </a:prstGeom>
          <a:noFill/>
          <a:ln w="22225">
            <a:solidFill>
              <a:schemeClr val="accent5"/>
            </a:solidFill>
            <a:prstDash val="solid"/>
          </a:ln>
        </p:spPr>
      </p:sp>
      <p:sp>
        <p:nvSpPr>
          <p:cNvPr id="7" name="Edge R1-X"/>
          <p:cNvSpPr/>
          <p:nvPr/>
        </p:nvSpPr>
        <p:spPr>
          <a:xfrm flipV="1">
            <a:off x="10104120" y="502920"/>
            <a:ext cx="1005840" cy="685800"/>
          </a:xfrm>
          <a:prstGeom prst="line">
            <a:avLst/>
          </a:prstGeom>
          <a:noFill/>
          <a:ln w="22225">
            <a:solidFill>
              <a:schemeClr val="accent5"/>
            </a:solidFill>
            <a:prstDash val="solid"/>
          </a:ln>
        </p:spPr>
      </p:sp>
      <p:sp>
        <p:nvSpPr>
          <p:cNvPr id="8" name="Edge R2-X"/>
          <p:cNvSpPr/>
          <p:nvPr/>
        </p:nvSpPr>
        <p:spPr>
          <a:xfrm>
            <a:off x="10104120" y="1188720"/>
            <a:ext cx="1005840" cy="685800"/>
          </a:xfrm>
          <a:prstGeom prst="line">
            <a:avLst/>
          </a:prstGeom>
          <a:noFill/>
          <a:ln w="22225">
            <a:solidFill>
              <a:schemeClr val="accent5"/>
            </a:solidFill>
            <a:prstDash val="solid"/>
          </a:ln>
        </p:spPr>
      </p:sp>
      <p:sp>
        <p:nvSpPr>
          <p:cNvPr id="9" name="Node left 1"/>
          <p:cNvSpPr txBox="1"/>
          <p:nvPr/>
        </p:nvSpPr>
        <p:spPr>
          <a:xfrm>
            <a:off x="8970264" y="374904"/>
            <a:ext cx="256032" cy="256032"/>
          </a:xfrm>
          <a:prstGeom prst="ellipse">
            <a:avLst/>
          </a:prstGeom>
          <a:solidFill>
            <a:schemeClr val="accent1"/>
          </a:solidFill>
          <a:ln/>
        </p:spPr>
        <p:txBody>
          <a:bodyPr wrap="square" lIns="0" tIns="0" rIns="0" bIns="0" rtlCol="0" anchor="ctr"/>
          <a:lstStyle/>
          <a:p>
            <a:pPr algn="ctr" indent="0" marL="0">
              <a:buNone/>
            </a:pPr>
            <a:endParaRPr lang="en-US" sz="1000" dirty="0"/>
          </a:p>
        </p:txBody>
      </p:sp>
      <p:sp>
        <p:nvSpPr>
          <p:cNvPr id="10" name="Node left 2"/>
          <p:cNvSpPr txBox="1"/>
          <p:nvPr/>
        </p:nvSpPr>
        <p:spPr>
          <a:xfrm>
            <a:off x="8970264" y="1746504"/>
            <a:ext cx="256032" cy="256032"/>
          </a:xfrm>
          <a:prstGeom prst="ellipse">
            <a:avLst/>
          </a:prstGeom>
          <a:solidFill>
            <a:schemeClr val="accent1"/>
          </a:solidFill>
          <a:ln/>
        </p:spPr>
        <p:txBody>
          <a:bodyPr wrap="square" lIns="0" tIns="0" rIns="0" bIns="0" rtlCol="0" anchor="ctr"/>
          <a:lstStyle/>
          <a:p>
            <a:pPr algn="ctr" indent="0" marL="0">
              <a:buNone/>
            </a:pPr>
            <a:endParaRPr lang="en-US" sz="1000" dirty="0"/>
          </a:p>
        </p:txBody>
      </p:sp>
      <p:sp>
        <p:nvSpPr>
          <p:cNvPr id="11" name="Node right 1"/>
          <p:cNvSpPr txBox="1"/>
          <p:nvPr/>
        </p:nvSpPr>
        <p:spPr>
          <a:xfrm>
            <a:off x="10981944" y="374904"/>
            <a:ext cx="256032" cy="256032"/>
          </a:xfrm>
          <a:prstGeom prst="ellipse">
            <a:avLst/>
          </a:prstGeom>
          <a:solidFill>
            <a:schemeClr val="accent2"/>
          </a:solidFill>
          <a:ln/>
        </p:spPr>
        <p:txBody>
          <a:bodyPr wrap="square" lIns="0" tIns="0" rIns="0" bIns="0" rtlCol="0" anchor="ctr"/>
          <a:lstStyle/>
          <a:p>
            <a:pPr algn="ctr" indent="0" marL="0">
              <a:buNone/>
            </a:pPr>
            <a:endParaRPr lang="en-US" sz="1000" dirty="0"/>
          </a:p>
        </p:txBody>
      </p:sp>
      <p:sp>
        <p:nvSpPr>
          <p:cNvPr id="12" name="Node right 2"/>
          <p:cNvSpPr txBox="1"/>
          <p:nvPr/>
        </p:nvSpPr>
        <p:spPr>
          <a:xfrm>
            <a:off x="10981944" y="1746504"/>
            <a:ext cx="256032" cy="256032"/>
          </a:xfrm>
          <a:prstGeom prst="ellipse">
            <a:avLst/>
          </a:prstGeom>
          <a:solidFill>
            <a:schemeClr val="accent2"/>
          </a:solidFill>
          <a:ln/>
        </p:spPr>
        <p:txBody>
          <a:bodyPr wrap="square" lIns="0" tIns="0" rIns="0" bIns="0" rtlCol="0" anchor="ctr"/>
          <a:lstStyle/>
          <a:p>
            <a:pPr algn="ctr" indent="0" marL="0">
              <a:buNone/>
            </a:pPr>
            <a:endParaRPr lang="en-US" sz="1000" dirty="0"/>
          </a:p>
        </p:txBody>
      </p:sp>
      <p:sp>
        <p:nvSpPr>
          <p:cNvPr id="13" name="Node X (broker)"/>
          <p:cNvSpPr txBox="1"/>
          <p:nvPr/>
        </p:nvSpPr>
        <p:spPr>
          <a:xfrm>
            <a:off x="9902952" y="987552"/>
            <a:ext cx="402336" cy="402336"/>
          </a:xfrm>
          <a:prstGeom prst="ellipse">
            <a:avLst/>
          </a:prstGeom>
          <a:solidFill>
            <a:schemeClr val="accent4"/>
          </a:solidFill>
          <a:ln/>
        </p:spPr>
        <p:txBody>
          <a:bodyPr wrap="square" lIns="0" tIns="0" rIns="0" bIns="0" rtlCol="0" anchor="ctr"/>
          <a:lstStyle/>
          <a:p>
            <a:pPr algn="ctr" indent="0" marL="0">
              <a:buNone/>
            </a:pPr>
            <a:endParaRPr lang="en-US" sz="1000" dirty="0"/>
          </a:p>
        </p:txBody>
      </p:sp>
      <p:sp>
        <p:nvSpPr>
          <p:cNvPr id="14" name="Kicker"/>
          <p:cNvSpPr txBox="1"/>
          <p:nvPr/>
        </p:nvSpPr>
        <p:spPr>
          <a:xfrm>
            <a:off x="822960" y="1463040"/>
            <a:ext cx="7315200" cy="365760"/>
          </a:xfrm>
          <a:prstGeom prst="rect">
            <a:avLst/>
          </a:prstGeom>
          <a:noFill/>
          <a:ln/>
        </p:spPr>
        <p:txBody>
          <a:bodyPr wrap="square" lIns="0" tIns="0" rIns="0" bIns="0" rtlCol="0" anchor="t"/>
          <a:lstStyle/>
          <a:p>
            <a:pPr indent="0" marL="0">
              <a:buNone/>
            </a:pPr>
            <a:r>
              <a:rPr lang="en-US" sz="1500" b="1" spc="400" kern="0" dirty="0">
                <a:solidFill>
                  <a:schemeClr val="accent4"/>
                </a:solidFill>
              </a:rPr>
              <a:t>NETWORK SCIENCE · RESEARCH PROJECT</a:t>
            </a:r>
            <a:endParaRPr lang="en-US" sz="1500" dirty="0"/>
          </a:p>
        </p:txBody>
      </p:sp>
      <p:sp>
        <p:nvSpPr>
          <p:cNvPr id="15" name="Text 0"/>
          <p:cNvSpPr/>
          <p:nvPr>
            <p:ph idx="100" type="title" hasCustomPrompt="1"/>
          </p:nvPr>
        </p:nvSpPr>
        <p:spPr>
          <a:xfrm>
            <a:off x="822960" y="1920240"/>
            <a:ext cx="8412480" cy="2103120"/>
          </a:xfrm>
          <a:prstGeom prst="rect">
            <a:avLst/>
          </a:prstGeom>
          <a:noFill/>
          <a:ln/>
        </p:spPr>
        <p:txBody>
          <a:bodyPr wrap="square" lIns="0" tIns="0" rIns="0" bIns="0" rtlCol="0" anchor="t"/>
          <a:lstStyle/>
          <a:p>
            <a:pPr algn="l" indent="0" marL="0">
              <a:buNone/>
            </a:pPr>
            <a:r>
              <a:rPr lang="en-US" sz="6400" b="1" dirty="0">
                <a:solidFill>
                  <a:schemeClr val="bg1"/>
                </a:solidFill>
              </a:rPr>
              <a:t>Do two notions of “core” agree?</a:t>
            </a:r>
            <a:endParaRPr lang="en-US" sz="6400" dirty="0"/>
          </a:p>
        </p:txBody>
      </p:sp>
      <p:sp>
        <p:nvSpPr>
          <p:cNvPr id="16" name="Text 0"/>
          <p:cNvSpPr/>
          <p:nvPr>
            <p:ph idx="101" type="body" hasCustomPrompt="1"/>
          </p:nvPr>
        </p:nvSpPr>
        <p:spPr>
          <a:xfrm>
            <a:off x="822960" y="4160520"/>
            <a:ext cx="9875520" cy="822960"/>
          </a:xfrm>
          <a:prstGeom prst="rect">
            <a:avLst/>
          </a:prstGeom>
          <a:noFill/>
          <a:ln/>
        </p:spPr>
        <p:txBody>
          <a:bodyPr wrap="square" lIns="0" tIns="0" rIns="0" bIns="0" rtlCol="0" anchor="t"/>
          <a:lstStyle/>
          <a:p>
            <a:pPr algn="l" indent="0" marL="0">
              <a:buNone/>
            </a:pPr>
            <a:r>
              <a:rPr lang="en-US" sz="2200" dirty="0">
                <a:solidFill>
                  <a:schemeClr val="accent5"/>
                </a:solidFill>
              </a:rPr>
              <a:t>Core–periphery structure versus structural cohesion, validated by network robustness</a:t>
            </a:r>
            <a:endParaRPr lang="en-US" sz="2200" dirty="0"/>
          </a:p>
        </p:txBody>
      </p:sp>
      <p:sp>
        <p:nvSpPr>
          <p:cNvPr id="17" name="Chip k-core"/>
          <p:cNvSpPr txBox="1"/>
          <p:nvPr/>
        </p:nvSpPr>
        <p:spPr>
          <a:xfrm>
            <a:off x="822960" y="5120640"/>
            <a:ext cx="2286000" cy="475488"/>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chemeClr val="bg1"/>
                </a:solidFill>
              </a:rPr>
              <a:t>k-core: density</a:t>
            </a:r>
            <a:endParaRPr lang="en-US" sz="1600" dirty="0"/>
          </a:p>
        </p:txBody>
      </p:sp>
      <p:sp>
        <p:nvSpPr>
          <p:cNvPr id="18" name="Chip cohesion"/>
          <p:cNvSpPr txBox="1"/>
          <p:nvPr/>
        </p:nvSpPr>
        <p:spPr>
          <a:xfrm>
            <a:off x="3291840" y="5120640"/>
            <a:ext cx="3200400" cy="475488"/>
          </a:xfrm>
          <a:prstGeom prst="roundRect">
            <a:avLst>
              <a:gd name="adj" fmla="val 50000"/>
            </a:avLst>
          </a:prstGeom>
          <a:solidFill>
            <a:schemeClr val="accent2"/>
          </a:solidFill>
          <a:ln/>
        </p:spPr>
        <p:txBody>
          <a:bodyPr wrap="square" lIns="0" tIns="0" rIns="0" bIns="0" rtlCol="0" anchor="ctr"/>
          <a:lstStyle/>
          <a:p>
            <a:pPr algn="ctr" indent="0" marL="0">
              <a:buNone/>
            </a:pPr>
            <a:r>
              <a:rPr lang="en-US" sz="1600" b="1" dirty="0">
                <a:solidFill>
                  <a:schemeClr val="tx1"/>
                </a:solidFill>
              </a:rPr>
              <a:t>cohesion: connectivity</a:t>
            </a:r>
            <a:endParaRPr lang="en-US" sz="1600" dirty="0"/>
          </a:p>
        </p:txBody>
      </p:sp>
      <p:sp>
        <p:nvSpPr>
          <p:cNvPr id="19" name="Chip brokers"/>
          <p:cNvSpPr txBox="1"/>
          <p:nvPr/>
        </p:nvSpPr>
        <p:spPr>
          <a:xfrm>
            <a:off x="6675120" y="5120640"/>
            <a:ext cx="3566160" cy="475488"/>
          </a:xfrm>
          <a:prstGeom prst="roundRect">
            <a:avLst>
              <a:gd name="adj" fmla="val 50000"/>
            </a:avLst>
          </a:prstGeom>
          <a:solidFill>
            <a:schemeClr val="accent3"/>
          </a:solidFill>
          <a:ln/>
        </p:spPr>
        <p:txBody>
          <a:bodyPr wrap="square" lIns="0" tIns="0" rIns="0" bIns="0" rtlCol="0" anchor="ctr"/>
          <a:lstStyle/>
          <a:p>
            <a:pPr algn="ctr" indent="0" marL="0">
              <a:buNone/>
            </a:pPr>
            <a:r>
              <a:rPr lang="en-US" sz="1600" b="1" dirty="0">
                <a:solidFill>
                  <a:schemeClr val="tx1"/>
                </a:solidFill>
              </a:rPr>
              <a:t>brokers: where they differ</a:t>
            </a:r>
            <a:endParaRPr lang="en-US" sz="1600" dirty="0"/>
          </a:p>
        </p:txBody>
      </p:sp>
      <p:sp>
        <p:nvSpPr>
          <p:cNvPr id="20" name="Authors"/>
          <p:cNvSpPr txBox="1"/>
          <p:nvPr/>
        </p:nvSpPr>
        <p:spPr>
          <a:xfrm>
            <a:off x="822960" y="6126480"/>
            <a:ext cx="7315200" cy="320040"/>
          </a:xfrm>
          <a:prstGeom prst="rect">
            <a:avLst/>
          </a:prstGeom>
          <a:noFill/>
          <a:ln/>
        </p:spPr>
        <p:txBody>
          <a:bodyPr wrap="square" lIns="0" tIns="0" rIns="0" bIns="0" rtlCol="0" anchor="t"/>
          <a:lstStyle/>
          <a:p>
            <a:pPr indent="0" marL="0">
              <a:buNone/>
            </a:pPr>
            <a:r>
              <a:rPr lang="en-US" sz="1400" dirty="0">
                <a:solidFill>
                  <a:schemeClr val="accent5"/>
                </a:solidFill>
              </a:rPr>
              <a:t>Sujan S · Diravina E 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1143000"/>
          </a:xfrm>
          <a:prstGeom prst="rect">
            <a:avLst/>
          </a:prstGeom>
          <a:noFill/>
          <a:ln/>
        </p:spPr>
        <p:txBody>
          <a:bodyPr wrap="square" lIns="0" tIns="0" rIns="0" bIns="0" rtlCol="0" anchor="t"/>
          <a:lstStyle/>
          <a:p>
            <a:pPr algn="l" indent="0" marL="0">
              <a:buNone/>
            </a:pPr>
            <a:r>
              <a:rPr lang="en-US" sz="3400" b="1" dirty="0">
                <a:solidFill>
                  <a:schemeClr val="tx1"/>
                </a:solidFill>
              </a:rPr>
              <a:t>Two literatures define the core differently</a:t>
            </a:r>
            <a:endParaRPr lang="en-US" sz="3400" dirty="0"/>
          </a:p>
        </p:txBody>
      </p:sp>
      <p:sp>
        <p:nvSpPr>
          <p:cNvPr id="4" name="Card 1"/>
          <p:cNvSpPr/>
          <p:nvPr/>
        </p:nvSpPr>
        <p:spPr>
          <a:xfrm>
            <a:off x="548640" y="1691640"/>
            <a:ext cx="5442052" cy="3063240"/>
          </a:xfrm>
          <a:prstGeom prst="roundRect">
            <a:avLst>
              <a:gd name="adj" fmla="val 3582"/>
            </a:avLst>
          </a:prstGeom>
          <a:solidFill>
            <a:schemeClr val="bg2"/>
          </a:solidFill>
          <a:ln/>
        </p:spPr>
      </p:sp>
      <p:sp>
        <p:nvSpPr>
          <p:cNvPr id="5" name="Label 1"/>
          <p:cNvSpPr txBox="1"/>
          <p:nvPr/>
        </p:nvSpPr>
        <p:spPr>
          <a:xfrm>
            <a:off x="914400" y="2011680"/>
            <a:ext cx="301752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CORE–PERIPHERY · K-CORE</a:t>
            </a:r>
            <a:endParaRPr lang="en-US" sz="1200" dirty="0"/>
          </a:p>
        </p:txBody>
      </p:sp>
      <p:sp>
        <p:nvSpPr>
          <p:cNvPr id="6" name="Heading 1"/>
          <p:cNvSpPr txBox="1"/>
          <p:nvPr/>
        </p:nvSpPr>
        <p:spPr>
          <a:xfrm>
            <a:off x="914400" y="2560320"/>
            <a:ext cx="4710532" cy="86868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The core is where ties are dense</a:t>
            </a:r>
            <a:endParaRPr lang="en-US" sz="2400" dirty="0"/>
          </a:p>
        </p:txBody>
      </p:sp>
      <p:sp>
        <p:nvSpPr>
          <p:cNvPr id="7" name="Body 1"/>
          <p:cNvSpPr txBox="1"/>
          <p:nvPr/>
        </p:nvSpPr>
        <p:spPr>
          <a:xfrm>
            <a:off x="914400" y="3474720"/>
            <a:ext cx="4710532" cy="1097280"/>
          </a:xfrm>
          <a:prstGeom prst="rect">
            <a:avLst/>
          </a:prstGeom>
          <a:noFill/>
          <a:ln/>
        </p:spPr>
        <p:txBody>
          <a:bodyPr wrap="square" lIns="0" tIns="0" rIns="0" bIns="0" rtlCol="0" anchor="t"/>
          <a:lstStyle/>
          <a:p>
            <a:pPr indent="0" marL="0">
              <a:buNone/>
            </a:pPr>
            <a:r>
              <a:rPr lang="en-US" sz="1600" dirty="0">
                <a:solidFill>
                  <a:schemeClr val="tx2"/>
                </a:solidFill>
              </a:rPr>
              <a:t>Borgatti–Everett (2000), Rombach et al. (2014), k-core peeling (Seidman 1983). Cheap, ubiquitous, degree-based.</a:t>
            </a:r>
            <a:endParaRPr lang="en-US" sz="1600" dirty="0"/>
          </a:p>
        </p:txBody>
      </p:sp>
      <p:sp>
        <p:nvSpPr>
          <p:cNvPr id="8" name="Card 2"/>
          <p:cNvSpPr/>
          <p:nvPr/>
        </p:nvSpPr>
        <p:spPr>
          <a:xfrm>
            <a:off x="6201004" y="1691640"/>
            <a:ext cx="5442052" cy="3063240"/>
          </a:xfrm>
          <a:prstGeom prst="roundRect">
            <a:avLst>
              <a:gd name="adj" fmla="val 3582"/>
            </a:avLst>
          </a:prstGeom>
          <a:solidFill>
            <a:schemeClr val="bg2"/>
          </a:solidFill>
          <a:ln/>
        </p:spPr>
      </p:sp>
      <p:sp>
        <p:nvSpPr>
          <p:cNvPr id="9" name="Label 2"/>
          <p:cNvSpPr txBox="1"/>
          <p:nvPr/>
        </p:nvSpPr>
        <p:spPr>
          <a:xfrm>
            <a:off x="6566764" y="2011680"/>
            <a:ext cx="265176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tx1"/>
                </a:solidFill>
              </a:rPr>
              <a:t>STRUCTURAL COHESION</a:t>
            </a:r>
            <a:endParaRPr lang="en-US" sz="1200" dirty="0"/>
          </a:p>
        </p:txBody>
      </p:sp>
      <p:sp>
        <p:nvSpPr>
          <p:cNvPr id="10" name="Heading 2"/>
          <p:cNvSpPr txBox="1"/>
          <p:nvPr/>
        </p:nvSpPr>
        <p:spPr>
          <a:xfrm>
            <a:off x="6566764" y="2560320"/>
            <a:ext cx="4710532" cy="86868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The core is what is hardest to pull apart</a:t>
            </a:r>
            <a:endParaRPr lang="en-US" sz="2400" dirty="0"/>
          </a:p>
        </p:txBody>
      </p:sp>
      <p:sp>
        <p:nvSpPr>
          <p:cNvPr id="11" name="Body 2"/>
          <p:cNvSpPr txBox="1"/>
          <p:nvPr/>
        </p:nvSpPr>
        <p:spPr>
          <a:xfrm>
            <a:off x="6566764" y="3474720"/>
            <a:ext cx="4710532" cy="1097280"/>
          </a:xfrm>
          <a:prstGeom prst="rect">
            <a:avLst/>
          </a:prstGeom>
          <a:noFill/>
          <a:ln/>
        </p:spPr>
        <p:txBody>
          <a:bodyPr wrap="square" lIns="0" tIns="0" rIns="0" bIns="0" rtlCol="0" anchor="t"/>
          <a:lstStyle/>
          <a:p>
            <a:pPr indent="0" marL="0">
              <a:buNone/>
            </a:pPr>
            <a:r>
              <a:rPr lang="en-US" sz="1600" dirty="0">
                <a:solidFill>
                  <a:schemeClr val="tx2"/>
                </a:solidFill>
              </a:rPr>
              <a:t>Moody &amp; White (2003): k-components, maximal groups that survive the removal of any k−1 nodes. Exact, but expensive.</a:t>
            </a:r>
            <a:endParaRPr lang="en-US" sz="1600" dirty="0"/>
          </a:p>
        </p:txBody>
      </p:sp>
      <p:sp>
        <p:nvSpPr>
          <p:cNvPr id="12" name="RQ card 1"/>
          <p:cNvSpPr/>
          <p:nvPr/>
        </p:nvSpPr>
        <p:spPr>
          <a:xfrm>
            <a:off x="548640" y="4983480"/>
            <a:ext cx="3576218" cy="1097280"/>
          </a:xfrm>
          <a:prstGeom prst="roundRect">
            <a:avLst>
              <a:gd name="adj" fmla="val 10000"/>
            </a:avLst>
          </a:prstGeom>
          <a:solidFill>
            <a:schemeClr val="tx1"/>
          </a:solidFill>
          <a:ln/>
        </p:spPr>
      </p:sp>
      <p:sp>
        <p:nvSpPr>
          <p:cNvPr id="13" name="RQ text 1"/>
          <p:cNvSpPr txBox="1"/>
          <p:nvPr/>
        </p:nvSpPr>
        <p:spPr>
          <a:xfrm>
            <a:off x="822960" y="5120640"/>
            <a:ext cx="3027578" cy="868680"/>
          </a:xfrm>
          <a:prstGeom prst="rect">
            <a:avLst/>
          </a:prstGeom>
          <a:noFill/>
          <a:ln/>
        </p:spPr>
        <p:txBody>
          <a:bodyPr wrap="square" lIns="0" tIns="0" rIns="0" bIns="0" rtlCol="0" anchor="ctr"/>
          <a:lstStyle/>
          <a:p>
            <a:pPr indent="0" marL="0">
              <a:buNone/>
            </a:pPr>
            <a:r>
              <a:rPr lang="en-US" sz="1400" b="1" dirty="0">
                <a:solidFill>
                  <a:schemeClr val="accent4"/>
                </a:solidFill>
              </a:rPr>
              <a:t>RQ1</a:t>
            </a:r>
            <a:endParaRPr lang="en-US" sz="1400" dirty="0"/>
          </a:p>
          <a:p>
            <a:pPr indent="0" marL="0">
              <a:buNone/>
            </a:pPr>
            <a:r>
              <a:rPr lang="en-US" sz="1900" dirty="0">
                <a:solidFill>
                  <a:schemeClr val="bg1"/>
                </a:solidFill>
              </a:rPr>
              <a:t>Do they agree?</a:t>
            </a:r>
            <a:endParaRPr lang="en-US" sz="1400" dirty="0"/>
          </a:p>
        </p:txBody>
      </p:sp>
      <p:sp>
        <p:nvSpPr>
          <p:cNvPr id="14" name="RQ card 2"/>
          <p:cNvSpPr/>
          <p:nvPr/>
        </p:nvSpPr>
        <p:spPr>
          <a:xfrm>
            <a:off x="4307738" y="4983480"/>
            <a:ext cx="3576218" cy="1097280"/>
          </a:xfrm>
          <a:prstGeom prst="roundRect">
            <a:avLst>
              <a:gd name="adj" fmla="val 10000"/>
            </a:avLst>
          </a:prstGeom>
          <a:solidFill>
            <a:schemeClr val="tx1"/>
          </a:solidFill>
          <a:ln/>
        </p:spPr>
      </p:sp>
      <p:sp>
        <p:nvSpPr>
          <p:cNvPr id="15" name="RQ text 2"/>
          <p:cNvSpPr txBox="1"/>
          <p:nvPr/>
        </p:nvSpPr>
        <p:spPr>
          <a:xfrm>
            <a:off x="4582058" y="5120640"/>
            <a:ext cx="3027578" cy="868680"/>
          </a:xfrm>
          <a:prstGeom prst="rect">
            <a:avLst/>
          </a:prstGeom>
          <a:noFill/>
          <a:ln/>
        </p:spPr>
        <p:txBody>
          <a:bodyPr wrap="square" lIns="0" tIns="0" rIns="0" bIns="0" rtlCol="0" anchor="ctr"/>
          <a:lstStyle/>
          <a:p>
            <a:pPr indent="0" marL="0">
              <a:buNone/>
            </a:pPr>
            <a:r>
              <a:rPr lang="en-US" sz="1400" b="1" dirty="0">
                <a:solidFill>
                  <a:schemeClr val="accent4"/>
                </a:solidFill>
              </a:rPr>
              <a:t>RQ2</a:t>
            </a:r>
            <a:endParaRPr lang="en-US" sz="1400" dirty="0"/>
          </a:p>
          <a:p>
            <a:pPr indent="0" marL="0">
              <a:buNone/>
            </a:pPr>
            <a:r>
              <a:rPr lang="en-US" sz="1900" dirty="0">
                <a:solidFill>
                  <a:schemeClr val="bg1"/>
                </a:solidFill>
              </a:rPr>
              <a:t>Which finds the critical nodes?</a:t>
            </a:r>
            <a:endParaRPr lang="en-US" sz="1400" dirty="0"/>
          </a:p>
        </p:txBody>
      </p:sp>
      <p:sp>
        <p:nvSpPr>
          <p:cNvPr id="16" name="RQ card 3"/>
          <p:cNvSpPr/>
          <p:nvPr/>
        </p:nvSpPr>
        <p:spPr>
          <a:xfrm>
            <a:off x="8066837" y="4983480"/>
            <a:ext cx="3576218" cy="1097280"/>
          </a:xfrm>
          <a:prstGeom prst="roundRect">
            <a:avLst>
              <a:gd name="adj" fmla="val 10000"/>
            </a:avLst>
          </a:prstGeom>
          <a:solidFill>
            <a:schemeClr val="tx1"/>
          </a:solidFill>
          <a:ln/>
        </p:spPr>
      </p:sp>
      <p:sp>
        <p:nvSpPr>
          <p:cNvPr id="17" name="RQ text 3"/>
          <p:cNvSpPr txBox="1"/>
          <p:nvPr/>
        </p:nvSpPr>
        <p:spPr>
          <a:xfrm>
            <a:off x="8341157" y="5120640"/>
            <a:ext cx="3027578" cy="868680"/>
          </a:xfrm>
          <a:prstGeom prst="rect">
            <a:avLst/>
          </a:prstGeom>
          <a:noFill/>
          <a:ln/>
        </p:spPr>
        <p:txBody>
          <a:bodyPr wrap="square" lIns="0" tIns="0" rIns="0" bIns="0" rtlCol="0" anchor="ctr"/>
          <a:lstStyle/>
          <a:p>
            <a:pPr indent="0" marL="0">
              <a:buNone/>
            </a:pPr>
            <a:r>
              <a:rPr lang="en-US" sz="1400" b="1" dirty="0">
                <a:solidFill>
                  <a:schemeClr val="accent4"/>
                </a:solidFill>
              </a:rPr>
              <a:t>RQ3</a:t>
            </a:r>
            <a:endParaRPr lang="en-US" sz="1400" dirty="0"/>
          </a:p>
          <a:p>
            <a:pPr indent="0" marL="0">
              <a:buNone/>
            </a:pPr>
            <a:r>
              <a:rPr lang="en-US" sz="1900" dirty="0">
                <a:solidFill>
                  <a:schemeClr val="bg1"/>
                </a:solidFill>
              </a:rPr>
              <a:t>Does a hybrid help?</a:t>
            </a:r>
            <a:endParaRPr lang="en-US" sz="14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1143000"/>
          </a:xfrm>
          <a:prstGeom prst="rect">
            <a:avLst/>
          </a:prstGeom>
          <a:noFill/>
          <a:ln/>
        </p:spPr>
        <p:txBody>
          <a:bodyPr wrap="square" lIns="0" tIns="0" rIns="0" bIns="0" rtlCol="0" anchor="t"/>
          <a:lstStyle/>
          <a:p>
            <a:pPr algn="l" indent="0" marL="0">
              <a:buNone/>
            </a:pPr>
            <a:r>
              <a:rPr lang="en-US" sz="3400" b="1" dirty="0">
                <a:solidFill>
                  <a:schemeClr val="tx1"/>
                </a:solidFill>
              </a:rPr>
              <a:t>Same nodes, different organisation: the bowtie</a:t>
            </a:r>
            <a:endParaRPr lang="en-US" sz="3400" dirty="0"/>
          </a:p>
        </p:txBody>
      </p:sp>
      <p:sp>
        <p:nvSpPr>
          <p:cNvPr id="4" name="Figure panel"/>
          <p:cNvSpPr/>
          <p:nvPr/>
        </p:nvSpPr>
        <p:spPr>
          <a:xfrm>
            <a:off x="548640" y="1600200"/>
            <a:ext cx="11094415" cy="3337560"/>
          </a:xfrm>
          <a:prstGeom prst="roundRect">
            <a:avLst>
              <a:gd name="adj" fmla="val 3288"/>
            </a:avLst>
          </a:prstGeom>
          <a:solidFill>
            <a:schemeClr val="bg2"/>
          </a:solidFill>
          <a:ln/>
        </p:spPr>
      </p:sp>
      <p:pic>
        <p:nvPicPr>
          <p:cNvPr id="5" name="Bowtie graph: two triangles sharing node X, and Zachary’s karate club coloured by coreness and cohesion level with one broker ringed" descr="/home/claude/repo/results/figures/fig1_bowtie_karate.png">    </p:cNvPr>
          <p:cNvPicPr>
            <a:picLocks noChangeAspect="1"/>
          </p:cNvPicPr>
          <p:nvPr/>
        </p:nvPicPr>
        <p:blipFill>
          <a:blip r:embed="rId1"/>
          <a:stretch>
            <a:fillRect/>
          </a:stretch>
        </p:blipFill>
        <p:spPr>
          <a:xfrm>
            <a:off x="2150331" y="1691640"/>
            <a:ext cx="7891033" cy="3154680"/>
          </a:xfrm>
          <a:prstGeom prst="rect">
            <a:avLst/>
          </a:prstGeom>
        </p:spPr>
      </p:pic>
      <p:sp>
        <p:nvSpPr>
          <p:cNvPr id="6" name="Caption left"/>
          <p:cNvSpPr txBox="1"/>
          <p:nvPr/>
        </p:nvSpPr>
        <p:spPr>
          <a:xfrm>
            <a:off x="548640" y="5166360"/>
            <a:ext cx="5442052" cy="1005840"/>
          </a:xfrm>
          <a:prstGeom prst="rect">
            <a:avLst/>
          </a:prstGeom>
          <a:noFill/>
          <a:ln/>
        </p:spPr>
        <p:txBody>
          <a:bodyPr wrap="square" lIns="0" tIns="0" rIns="0" bIns="0" rtlCol="0" anchor="t"/>
          <a:lstStyle/>
          <a:p>
            <a:pPr indent="0" marL="0">
              <a:buNone/>
            </a:pPr>
            <a:r>
              <a:rPr lang="en-US" sz="1800" dirty="0">
                <a:solidFill>
                  <a:schemeClr val="tx2"/>
                </a:solidFill>
              </a:rPr>
              <a:t>Every node has coreness 2 </a:t>
            </a:r>
            <a:pPr indent="0" marL="0">
              <a:buNone/>
            </a:pPr>
            <a:r>
              <a:rPr lang="en-US" sz="1800" b="1" dirty="0">
                <a:solidFill>
                  <a:schemeClr val="tx1"/>
                </a:solidFill>
              </a:rPr>
              <a:t>and</a:t>
            </a:r>
            <a:pPr indent="0" marL="0">
              <a:buNone/>
            </a:pPr>
            <a:r>
              <a:rPr lang="en-US" sz="1800" dirty="0">
                <a:solidFill>
                  <a:schemeClr val="tx2"/>
                </a:solidFill>
              </a:rPr>
              <a:t> cohesion level 2 — node-level measures agree perfectly.</a:t>
            </a:r>
            <a:endParaRPr lang="en-US" sz="1800" dirty="0"/>
          </a:p>
        </p:txBody>
      </p:sp>
      <p:sp>
        <p:nvSpPr>
          <p:cNvPr id="7" name="Caption right"/>
          <p:cNvSpPr txBox="1"/>
          <p:nvPr/>
        </p:nvSpPr>
        <p:spPr>
          <a:xfrm>
            <a:off x="6201004" y="5166360"/>
            <a:ext cx="5442052" cy="1005840"/>
          </a:xfrm>
          <a:prstGeom prst="rect">
            <a:avLst/>
          </a:prstGeom>
          <a:noFill/>
          <a:ln/>
        </p:spPr>
        <p:txBody>
          <a:bodyPr wrap="square" lIns="0" tIns="0" rIns="0" bIns="0" rtlCol="0" anchor="t"/>
          <a:lstStyle/>
          <a:p>
            <a:pPr indent="0" marL="0">
              <a:buNone/>
            </a:pPr>
            <a:r>
              <a:rPr lang="en-US" sz="1800" dirty="0">
                <a:solidFill>
                  <a:schemeClr val="tx2"/>
                </a:solidFill>
              </a:rPr>
              <a:t>But one 2-core = </a:t>
            </a:r>
            <a:pPr indent="0" marL="0">
              <a:buNone/>
            </a:pPr>
            <a:r>
              <a:rPr lang="en-US" sz="1800" b="1" dirty="0">
                <a:solidFill>
                  <a:schemeClr val="tx1"/>
                </a:solidFill>
              </a:rPr>
              <a:t>two</a:t>
            </a:r>
            <a:pPr indent="0" marL="0">
              <a:buNone/>
            </a:pPr>
            <a:r>
              <a:rPr lang="en-US" sz="1800" dirty="0">
                <a:solidFill>
                  <a:schemeClr val="tx2"/>
                </a:solidFill>
              </a:rPr>
              <a:t> 2-components glued by </a:t>
            </a:r>
            <a:pPr indent="0" marL="0">
              <a:buNone/>
            </a:pPr>
            <a:r>
              <a:rPr lang="en-US" sz="1800" b="1" dirty="0">
                <a:solidFill>
                  <a:schemeClr val="tx1"/>
                </a:solidFill>
              </a:rPr>
              <a:t>X</a:t>
            </a:r>
            <a:pPr indent="0" marL="0">
              <a:buNone/>
            </a:pPr>
            <a:r>
              <a:rPr lang="en-US" sz="1800" dirty="0">
                <a:solidFill>
                  <a:schemeClr val="tx2"/>
                </a:solidFill>
              </a:rPr>
              <a:t>, the cohesive broker. Remove X and it splits.</a:t>
            </a:r>
            <a:endParaRPr lang="en-US" sz="18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1143000"/>
          </a:xfrm>
          <a:prstGeom prst="rect">
            <a:avLst/>
          </a:prstGeom>
          <a:noFill/>
          <a:ln/>
        </p:spPr>
        <p:txBody>
          <a:bodyPr wrap="square" lIns="0" tIns="0" rIns="0" bIns="0" rtlCol="0" anchor="t"/>
          <a:lstStyle/>
          <a:p>
            <a:pPr algn="l" indent="0" marL="0">
              <a:buNone/>
            </a:pPr>
            <a:r>
              <a:rPr lang="en-US" sz="3400" b="1" dirty="0">
                <a:solidFill>
                  <a:schemeClr val="tx1"/>
                </a:solidFill>
              </a:rPr>
              <a:t>Eight networks, three domains, one yardstick</a:t>
            </a:r>
            <a:endParaRPr lang="en-US" sz="3400" dirty="0"/>
          </a:p>
        </p:txBody>
      </p:sp>
      <p:graphicFrame>
        <p:nvGraphicFramePr>
          <p:cNvPr id="5" name="Networks table"/>
          <p:cNvGraphicFramePr>
            <a:graphicFrameLocks noGrp="1"/>
          </p:cNvGraphicFramePr>
          <p:nvPr>
            <p:extLst>
              <p:ext uri="{D42A27DB-BD31-4B8C-83A1-F6EECF244321}">
                <p14:modId xmlns:p14="http://schemas.microsoft.com/office/powerpoint/2010/main" val="1579011935"/>
              </p:ext>
            </p:extLst>
          </p:nvPr>
        </p:nvGraphicFramePr>
        <p:xfrm>
          <a:off x="548640" y="1691640"/>
          <a:ext cx="6766560" cy="914400"/>
        </p:xfrm>
        <a:graphic>
          <a:graphicData uri="http://schemas.openxmlformats.org/drawingml/2006/table">
            <a:tbl>
              <a:tblPr/>
              <a:tblGrid>
                <a:gridCol w="3200400"/>
                <a:gridCol w="1920240"/>
                <a:gridCol w="1645920"/>
              </a:tblGrid>
              <a:tr h="457200">
                <a:tc>
                  <a:txBody>
                    <a:bodyPr/>
                    <a:lstStyle/>
                    <a:p>
                      <a:pPr algn="l" indent="0" marL="0">
                        <a:buNone/>
                      </a:pPr>
                      <a:r>
                        <a:rPr lang="en-US" sz="1500" b="1" dirty="0">
                          <a:solidFill>
                            <a:schemeClr val="bg1"/>
                          </a:solidFill>
                        </a:rPr>
                        <a:t>Network</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l" indent="0" marL="0">
                        <a:buNone/>
                      </a:pPr>
                      <a:r>
                        <a:rPr lang="en-US" sz="1500" b="1" dirty="0">
                          <a:solidFill>
                            <a:schemeClr val="bg1"/>
                          </a:solidFill>
                        </a:rPr>
                        <a:t>Domain</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r" indent="0" marL="0">
                        <a:buNone/>
                      </a:pPr>
                      <a:r>
                        <a:rPr lang="en-US" sz="1500" b="1" dirty="0">
                          <a:solidFill>
                            <a:schemeClr val="bg1"/>
                          </a:solidFill>
                        </a:rPr>
                        <a:t>Nodes</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tx1"/>
                    </a:solidFill>
                  </a:tcPr>
                </a:tc>
              </a:tr>
              <a:tr h="457200">
                <a:tc>
                  <a:txBody>
                    <a:bodyPr/>
                    <a:lstStyle/>
                    <a:p>
                      <a:pPr algn="l" indent="0" marL="0">
                        <a:buNone/>
                      </a:pPr>
                      <a:r>
                        <a:rPr lang="en-US" sz="1500" dirty="0">
                          <a:solidFill>
                            <a:schemeClr val="tx1"/>
                          </a:solidFill>
                        </a:rPr>
                        <a:t>Zachary karate club</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500" dirty="0">
                          <a:solidFill>
                            <a:schemeClr val="tx2"/>
                          </a:solidFill>
                        </a:rPr>
                        <a:t>Social</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500" b="1" dirty="0">
                          <a:solidFill>
                            <a:schemeClr val="tx1"/>
                          </a:solidFill>
                        </a:rPr>
                        <a:t>34</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l" indent="0" marL="0">
                        <a:buNone/>
                      </a:pPr>
                      <a:r>
                        <a:rPr lang="en-US" sz="1500" dirty="0">
                          <a:solidFill>
                            <a:schemeClr val="tx1"/>
                          </a:solidFill>
                        </a:rPr>
                        <a:t>arXiv GR-QC co-authors</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500" dirty="0">
                          <a:solidFill>
                            <a:schemeClr val="tx2"/>
                          </a:solidFill>
                        </a:rPr>
                        <a:t>Social</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500" b="1" dirty="0">
                          <a:solidFill>
                            <a:schemeClr val="tx1"/>
                          </a:solidFill>
                        </a:rPr>
                        <a:t>4,158</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l" indent="0" marL="0">
                        <a:buNone/>
                      </a:pPr>
                      <a:r>
                        <a:rPr lang="en-US" sz="1500" dirty="0">
                          <a:solidFill>
                            <a:schemeClr val="tx1"/>
                          </a:solidFill>
                        </a:rPr>
                        <a:t>EU research e-mail</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500" dirty="0">
                          <a:solidFill>
                            <a:schemeClr val="tx2"/>
                          </a:solidFill>
                        </a:rPr>
                        <a:t>Social</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500" b="1" dirty="0">
                          <a:solidFill>
                            <a:schemeClr val="tx1"/>
                          </a:solidFill>
                        </a:rPr>
                        <a:t>986</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l" indent="0" marL="0">
                        <a:buNone/>
                      </a:pPr>
                      <a:r>
                        <a:rPr lang="en-US" sz="1500" dirty="0">
                          <a:solidFill>
                            <a:schemeClr val="tx1"/>
                          </a:solidFill>
                        </a:rPr>
                        <a:t>Facebook ego networks</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500" dirty="0">
                          <a:solidFill>
                            <a:schemeClr val="tx2"/>
                          </a:solidFill>
                        </a:rPr>
                        <a:t>Social</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500" b="1" dirty="0">
                          <a:solidFill>
                            <a:schemeClr val="tx1"/>
                          </a:solidFill>
                        </a:rPr>
                        <a:t>4,039</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l" indent="0" marL="0">
                        <a:buNone/>
                      </a:pPr>
                      <a:r>
                        <a:rPr lang="en-US" sz="1500" dirty="0">
                          <a:solidFill>
                            <a:schemeClr val="tx1"/>
                          </a:solidFill>
                        </a:rPr>
                        <a:t>Yeast PPI (Collins)</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500" dirty="0">
                          <a:solidFill>
                            <a:schemeClr val="tx2"/>
                          </a:solidFill>
                        </a:rPr>
                        <a:t>Biological</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500" b="1" dirty="0">
                          <a:solidFill>
                            <a:schemeClr val="tx1"/>
                          </a:solidFill>
                        </a:rPr>
                        <a:t>1,004</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l" indent="0" marL="0">
                        <a:buNone/>
                      </a:pPr>
                      <a:r>
                        <a:rPr lang="en-US" sz="1500" dirty="0">
                          <a:solidFill>
                            <a:schemeClr val="tx1"/>
                          </a:solidFill>
                        </a:rPr>
                        <a:t>C. elegans neurons</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500" dirty="0">
                          <a:solidFill>
                            <a:schemeClr val="tx2"/>
                          </a:solidFill>
                        </a:rPr>
                        <a:t>Biological</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500" b="1" dirty="0">
                          <a:solidFill>
                            <a:schemeClr val="tx1"/>
                          </a:solidFill>
                        </a:rPr>
                        <a:t>297</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l" indent="0" marL="0">
                        <a:buNone/>
                      </a:pPr>
                      <a:r>
                        <a:rPr lang="en-US" sz="1500" dirty="0">
                          <a:solidFill>
                            <a:schemeClr val="tx1"/>
                          </a:solidFill>
                        </a:rPr>
                        <a:t>US power grid</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500" dirty="0">
                          <a:solidFill>
                            <a:schemeClr val="tx2"/>
                          </a:solidFill>
                        </a:rPr>
                        <a:t>Infrastructure</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500" b="1" dirty="0">
                          <a:solidFill>
                            <a:schemeClr val="tx1"/>
                          </a:solidFill>
                        </a:rPr>
                        <a:t>4,941</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l" indent="0" marL="0">
                        <a:buNone/>
                      </a:pPr>
                      <a:r>
                        <a:rPr lang="en-US" sz="1500" dirty="0">
                          <a:solidFill>
                            <a:schemeClr val="tx1"/>
                          </a:solidFill>
                        </a:rPr>
                        <a:t>India domestic air routes</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500" dirty="0">
                          <a:solidFill>
                            <a:schemeClr val="tx2"/>
                          </a:solidFill>
                        </a:rPr>
                        <a:t>Infrastructure</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500" b="1" dirty="0">
                          <a:solidFill>
                            <a:schemeClr val="tx1"/>
                          </a:solidFill>
                        </a:rPr>
                        <a:t>68</a:t>
                      </a:r>
                      <a:endParaRPr lang="en-US" sz="15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5" name="Side card 1"/>
          <p:cNvSpPr/>
          <p:nvPr/>
        </p:nvSpPr>
        <p:spPr>
          <a:xfrm>
            <a:off x="7635240" y="1691640"/>
            <a:ext cx="4007815" cy="2103120"/>
          </a:xfrm>
          <a:prstGeom prst="roundRect">
            <a:avLst>
              <a:gd name="adj" fmla="val 5217"/>
            </a:avLst>
          </a:prstGeom>
          <a:solidFill>
            <a:schemeClr val="bg2"/>
          </a:solidFill>
          <a:ln/>
        </p:spPr>
      </p:sp>
      <p:sp>
        <p:nvSpPr>
          <p:cNvPr id="6" name="Marker 1"/>
          <p:cNvSpPr txBox="1"/>
          <p:nvPr/>
        </p:nvSpPr>
        <p:spPr>
          <a:xfrm>
            <a:off x="7955280" y="1965960"/>
            <a:ext cx="594360" cy="594360"/>
          </a:xfrm>
          <a:prstGeom prst="ellipse">
            <a:avLst/>
          </a:prstGeom>
          <a:solidFill>
            <a:schemeClr val="accent2"/>
          </a:solidFill>
          <a:ln/>
        </p:spPr>
        <p:txBody>
          <a:bodyPr wrap="square" lIns="0" tIns="0" rIns="0" bIns="0" rtlCol="0" anchor="ctr"/>
          <a:lstStyle/>
          <a:p>
            <a:pPr algn="ctr" indent="0" marL="0">
              <a:buNone/>
            </a:pPr>
            <a:r>
              <a:rPr lang="en-US" sz="2200" b="1" dirty="0">
                <a:solidFill>
                  <a:schemeClr val="tx1"/>
                </a:solidFill>
              </a:rPr>
              <a:t>R</a:t>
            </a:r>
            <a:endParaRPr lang="en-US" sz="2200" dirty="0"/>
          </a:p>
        </p:txBody>
      </p:sp>
      <p:sp>
        <p:nvSpPr>
          <p:cNvPr id="7" name="Side heading 1"/>
          <p:cNvSpPr txBox="1"/>
          <p:nvPr/>
        </p:nvSpPr>
        <p:spPr>
          <a:xfrm>
            <a:off x="8732520" y="1965960"/>
            <a:ext cx="2636215" cy="594360"/>
          </a:xfrm>
          <a:prstGeom prst="rect">
            <a:avLst/>
          </a:prstGeom>
          <a:noFill/>
          <a:ln/>
        </p:spPr>
        <p:txBody>
          <a:bodyPr wrap="square" lIns="0" tIns="0" rIns="0" bIns="0" rtlCol="0" anchor="ctr"/>
          <a:lstStyle/>
          <a:p>
            <a:pPr indent="0" marL="0">
              <a:buNone/>
            </a:pPr>
            <a:r>
              <a:rPr lang="en-US" sz="1900" b="1" dirty="0">
                <a:solidFill>
                  <a:schemeClr val="tx1"/>
                </a:solidFill>
              </a:rPr>
              <a:t>Yardstick: robustness</a:t>
            </a:r>
            <a:endParaRPr lang="en-US" sz="1900" dirty="0"/>
          </a:p>
        </p:txBody>
      </p:sp>
      <p:sp>
        <p:nvSpPr>
          <p:cNvPr id="8" name="Side body 1"/>
          <p:cNvSpPr txBox="1"/>
          <p:nvPr/>
        </p:nvSpPr>
        <p:spPr>
          <a:xfrm>
            <a:off x="7955280" y="2743200"/>
            <a:ext cx="3367735" cy="914400"/>
          </a:xfrm>
          <a:prstGeom prst="rect">
            <a:avLst/>
          </a:prstGeom>
          <a:noFill/>
          <a:ln/>
        </p:spPr>
        <p:txBody>
          <a:bodyPr wrap="square" lIns="0" tIns="0" rIns="0" bIns="0" rtlCol="0" anchor="t"/>
          <a:lstStyle/>
          <a:p>
            <a:pPr indent="0" marL="0">
              <a:buNone/>
            </a:pPr>
            <a:r>
              <a:rPr lang="en-US" sz="1500" dirty="0">
                <a:solidFill>
                  <a:schemeClr val="tx2"/>
                </a:solidFill>
              </a:rPr>
              <a:t>Remove nodes in score order; R = mean size of the giant component. Lower R = more critical nodes found.</a:t>
            </a:r>
            <a:endParaRPr lang="en-US" sz="1500" dirty="0"/>
          </a:p>
        </p:txBody>
      </p:sp>
      <p:sp>
        <p:nvSpPr>
          <p:cNvPr id="9" name="Side card 2"/>
          <p:cNvSpPr/>
          <p:nvPr/>
        </p:nvSpPr>
        <p:spPr>
          <a:xfrm>
            <a:off x="7635240" y="3977640"/>
            <a:ext cx="4007815" cy="2103120"/>
          </a:xfrm>
          <a:prstGeom prst="roundRect">
            <a:avLst>
              <a:gd name="adj" fmla="val 5217"/>
            </a:avLst>
          </a:prstGeom>
          <a:solidFill>
            <a:schemeClr val="bg2"/>
          </a:solidFill>
          <a:ln/>
        </p:spPr>
      </p:sp>
      <p:sp>
        <p:nvSpPr>
          <p:cNvPr id="10" name="Marker 2"/>
          <p:cNvSpPr txBox="1"/>
          <p:nvPr/>
        </p:nvSpPr>
        <p:spPr>
          <a:xfrm>
            <a:off x="7955280" y="4251960"/>
            <a:ext cx="594360" cy="594360"/>
          </a:xfrm>
          <a:prstGeom prst="ellipse">
            <a:avLst/>
          </a:prstGeom>
          <a:solidFill>
            <a:schemeClr val="accent3"/>
          </a:solidFill>
          <a:ln/>
        </p:spPr>
        <p:txBody>
          <a:bodyPr wrap="square" lIns="0" tIns="0" rIns="0" bIns="0" rtlCol="0" anchor="ctr"/>
          <a:lstStyle/>
          <a:p>
            <a:pPr algn="ctr" indent="0" marL="0">
              <a:buNone/>
            </a:pPr>
            <a:r>
              <a:rPr lang="en-US" sz="1500" b="1" dirty="0">
                <a:solidFill>
                  <a:schemeClr val="tx1"/>
                </a:solidFill>
              </a:rPr>
              <a:t>100</a:t>
            </a:r>
            <a:endParaRPr lang="en-US" sz="1500" dirty="0"/>
          </a:p>
        </p:txBody>
      </p:sp>
      <p:sp>
        <p:nvSpPr>
          <p:cNvPr id="11" name="Side heading 2"/>
          <p:cNvSpPr txBox="1"/>
          <p:nvPr/>
        </p:nvSpPr>
        <p:spPr>
          <a:xfrm>
            <a:off x="8732520" y="4251960"/>
            <a:ext cx="2636215" cy="594360"/>
          </a:xfrm>
          <a:prstGeom prst="rect">
            <a:avLst/>
          </a:prstGeom>
          <a:noFill/>
          <a:ln/>
        </p:spPr>
        <p:txBody>
          <a:bodyPr wrap="square" lIns="0" tIns="0" rIns="0" bIns="0" rtlCol="0" anchor="ctr"/>
          <a:lstStyle/>
          <a:p>
            <a:pPr indent="0" marL="0">
              <a:buNone/>
            </a:pPr>
            <a:r>
              <a:rPr lang="en-US" sz="1900" b="1" dirty="0">
                <a:solidFill>
                  <a:schemeClr val="tx1"/>
                </a:solidFill>
              </a:rPr>
              <a:t>Controls</a:t>
            </a:r>
            <a:endParaRPr lang="en-US" sz="1900" dirty="0"/>
          </a:p>
        </p:txBody>
      </p:sp>
      <p:sp>
        <p:nvSpPr>
          <p:cNvPr id="12" name="Side body 2"/>
          <p:cNvSpPr txBox="1"/>
          <p:nvPr/>
        </p:nvSpPr>
        <p:spPr>
          <a:xfrm>
            <a:off x="7955280" y="5029200"/>
            <a:ext cx="3367735" cy="914400"/>
          </a:xfrm>
          <a:prstGeom prst="rect">
            <a:avLst/>
          </a:prstGeom>
          <a:noFill/>
          <a:ln/>
        </p:spPr>
        <p:txBody>
          <a:bodyPr wrap="square" lIns="0" tIns="0" rIns="0" bIns="0" rtlCol="0" anchor="t"/>
          <a:lstStyle/>
          <a:p>
            <a:pPr indent="0" marL="0">
              <a:buNone/>
            </a:pPr>
            <a:r>
              <a:rPr lang="en-US" sz="1500" dirty="0">
                <a:solidFill>
                  <a:schemeClr val="tx2"/>
                </a:solidFill>
              </a:rPr>
              <a:t>100 degree-preserving null models per network; held-out tuning; Wilcoxon, bootstrap CIs, Holm.</a:t>
            </a:r>
            <a:endParaRPr lang="en-US" sz="1500" dirty="0"/>
          </a:p>
        </p:txBody>
      </p:sp>
      <p:sp>
        <p:nvSpPr>
          <p:cNvPr id="13" name="Footnote"/>
          <p:cNvSpPr txBox="1"/>
          <p:nvPr/>
        </p:nvSpPr>
        <p:spPr>
          <a:xfrm>
            <a:off x="548640" y="6355080"/>
            <a:ext cx="10241280" cy="274320"/>
          </a:xfrm>
          <a:prstGeom prst="rect">
            <a:avLst/>
          </a:prstGeom>
          <a:noFill/>
          <a:ln/>
        </p:spPr>
        <p:txBody>
          <a:bodyPr wrap="square" lIns="0" tIns="0" rIns="0" bIns="0" rtlCol="0" anchor="ctr"/>
          <a:lstStyle/>
          <a:p>
            <a:pPr indent="0" marL="0">
              <a:buNone/>
            </a:pPr>
            <a:r>
              <a:rPr lang="en-US" sz="1100" dirty="0">
                <a:solidFill>
                  <a:schemeClr val="accent6"/>
                </a:solidFill>
              </a:rPr>
              <a:t>All graphs simple, undirected, largest connected component</a:t>
            </a:r>
            <a:endParaRPr lang="en-US" sz="11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1143000"/>
          </a:xfrm>
          <a:prstGeom prst="rect">
            <a:avLst/>
          </a:prstGeom>
          <a:noFill/>
          <a:ln/>
        </p:spPr>
        <p:txBody>
          <a:bodyPr wrap="square" lIns="0" tIns="0" rIns="0" bIns="0" rtlCol="0" anchor="t"/>
          <a:lstStyle/>
          <a:p>
            <a:pPr algn="l" indent="0" marL="0">
              <a:buNone/>
            </a:pPr>
            <a:r>
              <a:rPr lang="en-US" sz="3400" b="1" dirty="0">
                <a:solidFill>
                  <a:schemeClr val="tx1"/>
                </a:solidFill>
              </a:rPr>
              <a:t>An exact, fast k-component algorithm</a:t>
            </a:r>
            <a:endParaRPr lang="en-US" sz="3400" dirty="0"/>
          </a:p>
        </p:txBody>
      </p:sp>
      <p:sp>
        <p:nvSpPr>
          <p:cNvPr id="4" name="Step card 1"/>
          <p:cNvSpPr/>
          <p:nvPr/>
        </p:nvSpPr>
        <p:spPr>
          <a:xfrm>
            <a:off x="548640" y="1691640"/>
            <a:ext cx="3557930" cy="2606040"/>
          </a:xfrm>
          <a:prstGeom prst="roundRect">
            <a:avLst>
              <a:gd name="adj" fmla="val 4211"/>
            </a:avLst>
          </a:prstGeom>
          <a:solidFill>
            <a:schemeClr val="bg2"/>
          </a:solidFill>
          <a:ln/>
        </p:spPr>
      </p:sp>
      <p:sp>
        <p:nvSpPr>
          <p:cNvPr id="5" name="Step number 1"/>
          <p:cNvSpPr txBox="1"/>
          <p:nvPr/>
        </p:nvSpPr>
        <p:spPr>
          <a:xfrm>
            <a:off x="868680" y="1965960"/>
            <a:ext cx="548640" cy="54864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6" name="Step title 1"/>
          <p:cNvSpPr txBox="1"/>
          <p:nvPr/>
        </p:nvSpPr>
        <p:spPr>
          <a:xfrm>
            <a:off x="1600200" y="1965960"/>
            <a:ext cx="2277770" cy="548640"/>
          </a:xfrm>
          <a:prstGeom prst="rect">
            <a:avLst/>
          </a:prstGeom>
          <a:noFill/>
          <a:ln/>
        </p:spPr>
        <p:txBody>
          <a:bodyPr wrap="square" lIns="0" tIns="0" rIns="0" bIns="0" rtlCol="0" anchor="ctr"/>
          <a:lstStyle/>
          <a:p>
            <a:pPr indent="0" marL="0">
              <a:buNone/>
            </a:pPr>
            <a:r>
              <a:rPr lang="en-US" sz="2000" b="1" dirty="0">
                <a:solidFill>
                  <a:schemeClr val="tx1"/>
                </a:solidFill>
              </a:rPr>
              <a:t>Split safely</a:t>
            </a:r>
            <a:endParaRPr lang="en-US" sz="2000" dirty="0"/>
          </a:p>
        </p:txBody>
      </p:sp>
      <p:sp>
        <p:nvSpPr>
          <p:cNvPr id="7" name="Step body 1"/>
          <p:cNvSpPr txBox="1"/>
          <p:nvPr/>
        </p:nvSpPr>
        <p:spPr>
          <a:xfrm>
            <a:off x="868680" y="2743200"/>
            <a:ext cx="2917850" cy="1463040"/>
          </a:xfrm>
          <a:prstGeom prst="rect">
            <a:avLst/>
          </a:prstGeom>
          <a:noFill/>
          <a:ln/>
        </p:spPr>
        <p:txBody>
          <a:bodyPr wrap="square" lIns="0" tIns="0" rIns="0" bIns="0" rtlCol="0" anchor="t"/>
          <a:lstStyle/>
          <a:p>
            <a:pPr indent="0" marL="0">
              <a:buNone/>
            </a:pPr>
            <a:r>
              <a:rPr lang="en-US" sz="1600" dirty="0">
                <a:solidFill>
                  <a:schemeClr val="tx2"/>
                </a:solidFill>
              </a:rPr>
              <a:t>Prune to the k-core, find any vertex cut of size &lt; k, recurse on each side plus the cut. No k-component can be lost.</a:t>
            </a:r>
            <a:endParaRPr lang="en-US" sz="1600" dirty="0"/>
          </a:p>
        </p:txBody>
      </p:sp>
      <p:sp>
        <p:nvSpPr>
          <p:cNvPr id="8" name="Step card 2"/>
          <p:cNvSpPr/>
          <p:nvPr/>
        </p:nvSpPr>
        <p:spPr>
          <a:xfrm>
            <a:off x="4316882" y="1691640"/>
            <a:ext cx="3557930" cy="2606040"/>
          </a:xfrm>
          <a:prstGeom prst="roundRect">
            <a:avLst>
              <a:gd name="adj" fmla="val 4211"/>
            </a:avLst>
          </a:prstGeom>
          <a:solidFill>
            <a:schemeClr val="bg2"/>
          </a:solidFill>
          <a:ln/>
        </p:spPr>
      </p:sp>
      <p:sp>
        <p:nvSpPr>
          <p:cNvPr id="9" name="Step number 2"/>
          <p:cNvSpPr txBox="1"/>
          <p:nvPr/>
        </p:nvSpPr>
        <p:spPr>
          <a:xfrm>
            <a:off x="4636922" y="1965960"/>
            <a:ext cx="548640" cy="54864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10" name="Step title 2"/>
          <p:cNvSpPr txBox="1"/>
          <p:nvPr/>
        </p:nvSpPr>
        <p:spPr>
          <a:xfrm>
            <a:off x="5368442" y="1965960"/>
            <a:ext cx="2277770" cy="548640"/>
          </a:xfrm>
          <a:prstGeom prst="rect">
            <a:avLst/>
          </a:prstGeom>
          <a:noFill/>
          <a:ln/>
        </p:spPr>
        <p:txBody>
          <a:bodyPr wrap="square" lIns="0" tIns="0" rIns="0" bIns="0" rtlCol="0" anchor="ctr"/>
          <a:lstStyle/>
          <a:p>
            <a:pPr indent="0" marL="0">
              <a:buNone/>
            </a:pPr>
            <a:r>
              <a:rPr lang="en-US" sz="2000" b="1" dirty="0">
                <a:solidFill>
                  <a:schemeClr val="tx1"/>
                </a:solidFill>
              </a:rPr>
              <a:t>Certify cheaply</a:t>
            </a:r>
            <a:endParaRPr lang="en-US" sz="2000" dirty="0"/>
          </a:p>
        </p:txBody>
      </p:sp>
      <p:sp>
        <p:nvSpPr>
          <p:cNvPr id="11" name="Step body 2"/>
          <p:cNvSpPr txBox="1"/>
          <p:nvPr/>
        </p:nvSpPr>
        <p:spPr>
          <a:xfrm>
            <a:off x="4636922" y="2743200"/>
            <a:ext cx="2917850" cy="1463040"/>
          </a:xfrm>
          <a:prstGeom prst="rect">
            <a:avLst/>
          </a:prstGeom>
          <a:noFill/>
          <a:ln/>
        </p:spPr>
        <p:txBody>
          <a:bodyPr wrap="square" lIns="0" tIns="0" rIns="0" bIns="0" rtlCol="0" anchor="t"/>
          <a:lstStyle/>
          <a:p>
            <a:pPr indent="0" marL="0">
              <a:buNone/>
            </a:pPr>
            <a:r>
              <a:rPr lang="en-US" sz="1600" dirty="0">
                <a:solidFill>
                  <a:schemeClr val="tx2"/>
                </a:solidFill>
              </a:rPr>
              <a:t>k common neighbours, or a “bootstrap closure” from a node, prove k disjoint paths without max-flow (Lemma 1).</a:t>
            </a:r>
            <a:endParaRPr lang="en-US" sz="1600" dirty="0"/>
          </a:p>
        </p:txBody>
      </p:sp>
      <p:sp>
        <p:nvSpPr>
          <p:cNvPr id="12" name="Step card 3"/>
          <p:cNvSpPr/>
          <p:nvPr/>
        </p:nvSpPr>
        <p:spPr>
          <a:xfrm>
            <a:off x="8085125" y="1691640"/>
            <a:ext cx="3557930" cy="2606040"/>
          </a:xfrm>
          <a:prstGeom prst="roundRect">
            <a:avLst>
              <a:gd name="adj" fmla="val 4211"/>
            </a:avLst>
          </a:prstGeom>
          <a:solidFill>
            <a:schemeClr val="bg2"/>
          </a:solidFill>
          <a:ln/>
        </p:spPr>
      </p:sp>
      <p:sp>
        <p:nvSpPr>
          <p:cNvPr id="13" name="Step number 3"/>
          <p:cNvSpPr txBox="1"/>
          <p:nvPr/>
        </p:nvSpPr>
        <p:spPr>
          <a:xfrm>
            <a:off x="8405165" y="1965960"/>
            <a:ext cx="548640" cy="54864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4" name="Step title 3"/>
          <p:cNvSpPr txBox="1"/>
          <p:nvPr/>
        </p:nvSpPr>
        <p:spPr>
          <a:xfrm>
            <a:off x="9136685" y="1965960"/>
            <a:ext cx="2277770" cy="548640"/>
          </a:xfrm>
          <a:prstGeom prst="rect">
            <a:avLst/>
          </a:prstGeom>
          <a:noFill/>
          <a:ln/>
        </p:spPr>
        <p:txBody>
          <a:bodyPr wrap="square" lIns="0" tIns="0" rIns="0" bIns="0" rtlCol="0" anchor="ctr"/>
          <a:lstStyle/>
          <a:p>
            <a:pPr indent="0" marL="0">
              <a:buNone/>
            </a:pPr>
            <a:r>
              <a:rPr lang="en-US" sz="2000" b="1" dirty="0">
                <a:solidFill>
                  <a:schemeClr val="tx1"/>
                </a:solidFill>
              </a:rPr>
              <a:t>Flow the rest</a:t>
            </a:r>
            <a:endParaRPr lang="en-US" sz="2000" dirty="0"/>
          </a:p>
        </p:txBody>
      </p:sp>
      <p:sp>
        <p:nvSpPr>
          <p:cNvPr id="15" name="Step body 3"/>
          <p:cNvSpPr txBox="1"/>
          <p:nvPr/>
        </p:nvSpPr>
        <p:spPr>
          <a:xfrm>
            <a:off x="8405165" y="2743200"/>
            <a:ext cx="2917850" cy="1463040"/>
          </a:xfrm>
          <a:prstGeom prst="rect">
            <a:avLst/>
          </a:prstGeom>
          <a:noFill/>
          <a:ln/>
        </p:spPr>
        <p:txBody>
          <a:bodyPr wrap="square" lIns="0" tIns="0" rIns="0" bIns="0" rtlCol="0" anchor="t"/>
          <a:lstStyle/>
          <a:p>
            <a:pPr indent="0" marL="0">
              <a:buNone/>
            </a:pPr>
            <a:r>
              <a:rPr lang="en-US" sz="1600" dirty="0">
                <a:solidFill>
                  <a:schemeClr val="tx2"/>
                </a:solidFill>
              </a:rPr>
              <a:t>Remaining pairs: unit-capacity max-flow on the node-split graph, compiled with Numba, cut-off at k.</a:t>
            </a:r>
            <a:endParaRPr lang="en-US" sz="1600" dirty="0"/>
          </a:p>
        </p:txBody>
      </p:sp>
      <p:sp>
        <p:nvSpPr>
          <p:cNvPr id="16" name="Stat card 1"/>
          <p:cNvSpPr/>
          <p:nvPr/>
        </p:nvSpPr>
        <p:spPr>
          <a:xfrm>
            <a:off x="548640" y="4526280"/>
            <a:ext cx="5442052" cy="1600200"/>
          </a:xfrm>
          <a:prstGeom prst="roundRect">
            <a:avLst>
              <a:gd name="adj" fmla="val 6857"/>
            </a:avLst>
          </a:prstGeom>
          <a:solidFill>
            <a:schemeClr val="tx1"/>
          </a:solidFill>
          <a:ln/>
        </p:spPr>
      </p:sp>
      <p:sp>
        <p:nvSpPr>
          <p:cNvPr id="17" name="Stat 1"/>
          <p:cNvSpPr txBox="1"/>
          <p:nvPr/>
        </p:nvSpPr>
        <p:spPr>
          <a:xfrm>
            <a:off x="914400" y="4663440"/>
            <a:ext cx="4710532" cy="685800"/>
          </a:xfrm>
          <a:prstGeom prst="rect">
            <a:avLst/>
          </a:prstGeom>
          <a:noFill/>
          <a:ln/>
        </p:spPr>
        <p:txBody>
          <a:bodyPr wrap="square" lIns="0" tIns="0" rIns="0" bIns="0" rtlCol="0" anchor="ctr"/>
          <a:lstStyle/>
          <a:p>
            <a:pPr indent="0" marL="0">
              <a:buNone/>
            </a:pPr>
            <a:r>
              <a:rPr lang="en-US" sz="3800" b="1" dirty="0">
                <a:solidFill>
                  <a:schemeClr val="accent4"/>
                </a:solidFill>
                <a:latin typeface="Cambria" pitchFamily="34" charset="0"/>
                <a:ea typeface="Cambria" pitchFamily="34" charset="-122"/>
                <a:cs typeface="Cambria" pitchFamily="34" charset="-120"/>
              </a:rPr>
              <a:t>83 s</a:t>
            </a:r>
            <a:endParaRPr lang="en-US" sz="3800" dirty="0"/>
          </a:p>
        </p:txBody>
      </p:sp>
      <p:sp>
        <p:nvSpPr>
          <p:cNvPr id="18" name="Stat caption 1"/>
          <p:cNvSpPr txBox="1"/>
          <p:nvPr/>
        </p:nvSpPr>
        <p:spPr>
          <a:xfrm>
            <a:off x="914400" y="5394960"/>
            <a:ext cx="4710532" cy="594360"/>
          </a:xfrm>
          <a:prstGeom prst="rect">
            <a:avLst/>
          </a:prstGeom>
          <a:noFill/>
          <a:ln/>
        </p:spPr>
        <p:txBody>
          <a:bodyPr wrap="square" lIns="0" tIns="0" rIns="0" bIns="0" rtlCol="0" anchor="t"/>
          <a:lstStyle/>
          <a:p>
            <a:pPr indent="0" marL="0">
              <a:buNone/>
            </a:pPr>
            <a:r>
              <a:rPr lang="en-US" sz="1500" dirty="0">
                <a:solidFill>
                  <a:schemeClr val="accent5"/>
                </a:solidFill>
              </a:rPr>
              <a:t>full hierarchy of Facebook (4,039 nodes, 88k edges, k up to 115)</a:t>
            </a:r>
            <a:endParaRPr lang="en-US" sz="1500" dirty="0"/>
          </a:p>
        </p:txBody>
      </p:sp>
      <p:sp>
        <p:nvSpPr>
          <p:cNvPr id="19" name="Stat card 2"/>
          <p:cNvSpPr/>
          <p:nvPr/>
        </p:nvSpPr>
        <p:spPr>
          <a:xfrm>
            <a:off x="6201004" y="4526280"/>
            <a:ext cx="5442052" cy="1600200"/>
          </a:xfrm>
          <a:prstGeom prst="roundRect">
            <a:avLst>
              <a:gd name="adj" fmla="val 6857"/>
            </a:avLst>
          </a:prstGeom>
          <a:solidFill>
            <a:schemeClr val="tx1"/>
          </a:solidFill>
          <a:ln/>
        </p:spPr>
      </p:sp>
      <p:sp>
        <p:nvSpPr>
          <p:cNvPr id="20" name="Stat 2"/>
          <p:cNvSpPr txBox="1"/>
          <p:nvPr/>
        </p:nvSpPr>
        <p:spPr>
          <a:xfrm>
            <a:off x="6566764" y="4663440"/>
            <a:ext cx="4710532" cy="685800"/>
          </a:xfrm>
          <a:prstGeom prst="rect">
            <a:avLst/>
          </a:prstGeom>
          <a:noFill/>
          <a:ln/>
        </p:spPr>
        <p:txBody>
          <a:bodyPr wrap="square" lIns="0" tIns="0" rIns="0" bIns="0" rtlCol="0" anchor="ctr"/>
          <a:lstStyle/>
          <a:p>
            <a:pPr indent="0" marL="0">
              <a:buNone/>
            </a:pPr>
            <a:r>
              <a:rPr lang="en-US" sz="3800" b="1" dirty="0">
                <a:solidFill>
                  <a:schemeClr val="accent4"/>
                </a:solidFill>
                <a:latin typeface="Cambria" pitchFamily="34" charset="0"/>
                <a:ea typeface="Cambria" pitchFamily="34" charset="-122"/>
                <a:cs typeface="Cambria" pitchFamily="34" charset="-120"/>
              </a:rPr>
              <a:t>non-maximal</a:t>
            </a:r>
            <a:endParaRPr lang="en-US" sz="3800" dirty="0"/>
          </a:p>
        </p:txBody>
      </p:sp>
      <p:sp>
        <p:nvSpPr>
          <p:cNvPr id="21" name="Stat caption 2"/>
          <p:cNvSpPr txBox="1"/>
          <p:nvPr/>
        </p:nvSpPr>
        <p:spPr>
          <a:xfrm>
            <a:off x="6566764" y="5394960"/>
            <a:ext cx="4710532" cy="594360"/>
          </a:xfrm>
          <a:prstGeom prst="rect">
            <a:avLst/>
          </a:prstGeom>
          <a:noFill/>
          <a:ln/>
        </p:spPr>
        <p:txBody>
          <a:bodyPr wrap="square" lIns="0" tIns="0" rIns="0" bIns="0" rtlCol="0" anchor="t"/>
          <a:lstStyle/>
          <a:p>
            <a:pPr indent="0" marL="0">
              <a:buNone/>
            </a:pPr>
            <a:r>
              <a:rPr lang="en-US" sz="1500" dirty="0">
                <a:solidFill>
                  <a:schemeClr val="accent5"/>
                </a:solidFill>
              </a:rPr>
              <a:t>sets returned by networkx.k_components (e.g. Les Misérables, k = 3: 32 of 34 nodes)</a:t>
            </a:r>
            <a:endParaRPr lang="en-US" sz="1500" dirty="0"/>
          </a:p>
        </p:txBody>
      </p:sp>
      <p:sp>
        <p:nvSpPr>
          <p:cNvPr id="22" name="Footnote"/>
          <p:cNvSpPr txBox="1"/>
          <p:nvPr/>
        </p:nvSpPr>
        <p:spPr>
          <a:xfrm>
            <a:off x="548640" y="6355080"/>
            <a:ext cx="10241280" cy="274320"/>
          </a:xfrm>
          <a:prstGeom prst="rect">
            <a:avLst/>
          </a:prstGeom>
          <a:noFill/>
          <a:ln/>
        </p:spPr>
        <p:txBody>
          <a:bodyPr wrap="square" lIns="0" tIns="0" rIns="0" bIns="0" rtlCol="0" anchor="ctr"/>
          <a:lstStyle/>
          <a:p>
            <a:pPr indent="0" marL="0">
              <a:buNone/>
            </a:pPr>
            <a:r>
              <a:rPr lang="en-US" sz="1100" dirty="0">
                <a:solidFill>
                  <a:schemeClr val="accent6"/>
                </a:solidFill>
              </a:rPr>
              <a:t>Verified against brute-force enumeration on 25 random graphs; 59 unit tests</a:t>
            </a:r>
            <a:endParaRPr lang="en-US" sz="11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1143000"/>
          </a:xfrm>
          <a:prstGeom prst="rect">
            <a:avLst/>
          </a:prstGeom>
          <a:noFill/>
          <a:ln/>
        </p:spPr>
        <p:txBody>
          <a:bodyPr wrap="square" lIns="0" tIns="0" rIns="0" bIns="0" rtlCol="0" anchor="t"/>
          <a:lstStyle/>
          <a:p>
            <a:pPr algn="l" indent="0" marL="0">
              <a:buNone/>
            </a:pPr>
            <a:r>
              <a:rPr lang="en-US" sz="3400" b="1" dirty="0">
                <a:solidFill>
                  <a:schemeClr val="tx1"/>
                </a:solidFill>
              </a:rPr>
              <a:t>RQ1 · Node by node, the two cores are the same ranking</a:t>
            </a:r>
            <a:endParaRPr lang="en-US" sz="3400" dirty="0"/>
          </a:p>
        </p:txBody>
      </p:sp>
      <p:sp>
        <p:nvSpPr>
          <p:cNvPr id="4" name="Stat card 1"/>
          <p:cNvSpPr/>
          <p:nvPr/>
        </p:nvSpPr>
        <p:spPr>
          <a:xfrm>
            <a:off x="548640" y="1691640"/>
            <a:ext cx="3557930" cy="2697480"/>
          </a:xfrm>
          <a:prstGeom prst="roundRect">
            <a:avLst>
              <a:gd name="adj" fmla="val 4068"/>
            </a:avLst>
          </a:prstGeom>
          <a:solidFill>
            <a:schemeClr val="bg2"/>
          </a:solidFill>
          <a:ln/>
        </p:spPr>
      </p:sp>
      <p:sp>
        <p:nvSpPr>
          <p:cNvPr id="5" name="Stat 1"/>
          <p:cNvSpPr txBox="1"/>
          <p:nvPr/>
        </p:nvSpPr>
        <p:spPr>
          <a:xfrm>
            <a:off x="914400" y="1920240"/>
            <a:ext cx="2826410" cy="86868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 0.99</a:t>
            </a:r>
            <a:endParaRPr lang="en-US" sz="4400" dirty="0"/>
          </a:p>
        </p:txBody>
      </p:sp>
      <p:sp>
        <p:nvSpPr>
          <p:cNvPr id="6" name="Stat caption 1"/>
          <p:cNvSpPr txBox="1"/>
          <p:nvPr/>
        </p:nvSpPr>
        <p:spPr>
          <a:xfrm>
            <a:off x="914400" y="2926080"/>
            <a:ext cx="2826410" cy="1325880"/>
          </a:xfrm>
          <a:prstGeom prst="rect">
            <a:avLst/>
          </a:prstGeom>
          <a:noFill/>
          <a:ln/>
        </p:spPr>
        <p:txBody>
          <a:bodyPr wrap="square" lIns="0" tIns="0" rIns="0" bIns="0" rtlCol="0" anchor="t"/>
          <a:lstStyle/>
          <a:p>
            <a:pPr indent="0" marL="0">
              <a:buNone/>
            </a:pPr>
            <a:r>
              <a:rPr lang="en-US" sz="1800" dirty="0">
                <a:solidFill>
                  <a:schemeClr val="tx2"/>
                </a:solidFill>
              </a:rPr>
              <a:t>Spearman ρ between k-coreness and cohesion level, in all 8 networks</a:t>
            </a:r>
            <a:endParaRPr lang="en-US" sz="1800" dirty="0"/>
          </a:p>
        </p:txBody>
      </p:sp>
      <p:sp>
        <p:nvSpPr>
          <p:cNvPr id="7" name="Stat card 2"/>
          <p:cNvSpPr/>
          <p:nvPr/>
        </p:nvSpPr>
        <p:spPr>
          <a:xfrm>
            <a:off x="4316882" y="1691640"/>
            <a:ext cx="3557930" cy="2697480"/>
          </a:xfrm>
          <a:prstGeom prst="roundRect">
            <a:avLst>
              <a:gd name="adj" fmla="val 4068"/>
            </a:avLst>
          </a:prstGeom>
          <a:solidFill>
            <a:schemeClr val="bg2"/>
          </a:solidFill>
          <a:ln/>
        </p:spPr>
      </p:sp>
      <p:sp>
        <p:nvSpPr>
          <p:cNvPr id="8" name="Stat 2"/>
          <p:cNvSpPr txBox="1"/>
          <p:nvPr/>
        </p:nvSpPr>
        <p:spPr>
          <a:xfrm>
            <a:off x="4682642" y="1920240"/>
            <a:ext cx="2826410" cy="86868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 1%</a:t>
            </a:r>
            <a:endParaRPr lang="en-US" sz="4400" dirty="0"/>
          </a:p>
        </p:txBody>
      </p:sp>
      <p:sp>
        <p:nvSpPr>
          <p:cNvPr id="9" name="Stat caption 2"/>
          <p:cNvSpPr txBox="1"/>
          <p:nvPr/>
        </p:nvSpPr>
        <p:spPr>
          <a:xfrm>
            <a:off x="4682642" y="2926080"/>
            <a:ext cx="2826410" cy="1325880"/>
          </a:xfrm>
          <a:prstGeom prst="rect">
            <a:avLst/>
          </a:prstGeom>
          <a:noFill/>
          <a:ln/>
        </p:spPr>
        <p:txBody>
          <a:bodyPr wrap="square" lIns="0" tIns="0" rIns="0" bIns="0" rtlCol="0" anchor="t"/>
          <a:lstStyle/>
          <a:p>
            <a:pPr indent="0" marL="0">
              <a:buNone/>
            </a:pPr>
            <a:r>
              <a:rPr lang="en-US" sz="1800" dirty="0">
                <a:solidFill>
                  <a:schemeClr val="tx2"/>
                </a:solidFill>
              </a:rPr>
              <a:t>cohesion deficit; 87% of “gap” nodes lose only one level</a:t>
            </a:r>
            <a:endParaRPr lang="en-US" sz="1800" dirty="0"/>
          </a:p>
        </p:txBody>
      </p:sp>
      <p:sp>
        <p:nvSpPr>
          <p:cNvPr id="10" name="Stat card 3"/>
          <p:cNvSpPr/>
          <p:nvPr/>
        </p:nvSpPr>
        <p:spPr>
          <a:xfrm>
            <a:off x="8085125" y="1691640"/>
            <a:ext cx="3557930" cy="2697480"/>
          </a:xfrm>
          <a:prstGeom prst="roundRect">
            <a:avLst>
              <a:gd name="adj" fmla="val 4068"/>
            </a:avLst>
          </a:prstGeom>
          <a:solidFill>
            <a:schemeClr val="bg2"/>
          </a:solidFill>
          <a:ln/>
        </p:spPr>
      </p:sp>
      <p:sp>
        <p:nvSpPr>
          <p:cNvPr id="11" name="Stat 3"/>
          <p:cNvSpPr txBox="1"/>
          <p:nvPr/>
        </p:nvSpPr>
        <p:spPr>
          <a:xfrm>
            <a:off x="8450885" y="1920240"/>
            <a:ext cx="2826410" cy="86868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0.24–0.54</a:t>
            </a:r>
            <a:endParaRPr lang="en-US" sz="4400" dirty="0"/>
          </a:p>
        </p:txBody>
      </p:sp>
      <p:sp>
        <p:nvSpPr>
          <p:cNvPr id="12" name="Stat caption 3"/>
          <p:cNvSpPr txBox="1"/>
          <p:nvPr/>
        </p:nvSpPr>
        <p:spPr>
          <a:xfrm>
            <a:off x="8450885" y="2926080"/>
            <a:ext cx="2826410" cy="1325880"/>
          </a:xfrm>
          <a:prstGeom prst="rect">
            <a:avLst/>
          </a:prstGeom>
          <a:noFill/>
          <a:ln/>
        </p:spPr>
        <p:txBody>
          <a:bodyPr wrap="square" lIns="0" tIns="0" rIns="0" bIns="0" rtlCol="0" anchor="t"/>
          <a:lstStyle/>
          <a:p>
            <a:pPr indent="0" marL="0">
              <a:buNone/>
            </a:pPr>
            <a:r>
              <a:rPr lang="en-US" sz="1800" dirty="0">
                <a:solidFill>
                  <a:schemeClr val="tx2"/>
                </a:solidFill>
              </a:rPr>
              <a:t>Spearman ρ of Borgatti–Everett labels with cohesion; Rombach 0.73–0.99</a:t>
            </a:r>
            <a:endParaRPr lang="en-US" sz="1800" dirty="0"/>
          </a:p>
        </p:txBody>
      </p:sp>
      <p:sp>
        <p:nvSpPr>
          <p:cNvPr id="13" name="Takeaway"/>
          <p:cNvSpPr txBox="1"/>
          <p:nvPr/>
        </p:nvSpPr>
        <p:spPr>
          <a:xfrm>
            <a:off x="548640" y="4754880"/>
            <a:ext cx="11094415" cy="1188720"/>
          </a:xfrm>
          <a:prstGeom prst="rect">
            <a:avLst/>
          </a:prstGeom>
          <a:noFill/>
          <a:ln/>
        </p:spPr>
        <p:txBody>
          <a:bodyPr wrap="square" lIns="0" tIns="0" rIns="0" bIns="0" rtlCol="0" anchor="t"/>
          <a:lstStyle/>
          <a:p>
            <a:pPr indent="0" marL="0">
              <a:buNone/>
            </a:pPr>
            <a:r>
              <a:rPr lang="en-US" sz="2000" dirty="0">
                <a:solidFill>
                  <a:schemeClr val="tx1"/>
                </a:solidFill>
              </a:rPr>
              <a:t>Main k-core = deepest k-components in every network (AMI = 1). CP models agree least on infrastructure — but for k-cores, </a:t>
            </a:r>
            <a:pPr indent="0" marL="0">
              <a:buNone/>
            </a:pPr>
            <a:r>
              <a:rPr lang="en-US" sz="2000" b="1" dirty="0">
                <a:solidFill>
                  <a:schemeClr val="tx1"/>
                </a:solidFill>
              </a:rPr>
              <a:t>H1 is not supported</a:t>
            </a:r>
            <a:pPr indent="0" marL="0">
              <a:buNone/>
            </a:pPr>
            <a:r>
              <a:rPr lang="en-US" sz="2000" dirty="0">
                <a:solidFill>
                  <a:schemeClr val="tx1"/>
                </a:solidFill>
              </a:rPr>
              <a:t>.</a:t>
            </a:r>
            <a:endParaRPr lang="en-US" sz="2000" dirty="0"/>
          </a:p>
        </p:txBody>
      </p:sp>
      <p:sp>
        <p:nvSpPr>
          <p:cNvPr id="14" name="Footnote"/>
          <p:cNvSpPr txBox="1"/>
          <p:nvPr/>
        </p:nvSpPr>
        <p:spPr>
          <a:xfrm>
            <a:off x="548640" y="6355080"/>
            <a:ext cx="10241280" cy="274320"/>
          </a:xfrm>
          <a:prstGeom prst="rect">
            <a:avLst/>
          </a:prstGeom>
          <a:noFill/>
          <a:ln/>
        </p:spPr>
        <p:txBody>
          <a:bodyPr wrap="square" lIns="0" tIns="0" rIns="0" bIns="0" rtlCol="0" anchor="ctr"/>
          <a:lstStyle/>
          <a:p>
            <a:pPr indent="0" marL="0">
              <a:buNone/>
            </a:pPr>
            <a:r>
              <a:rPr lang="en-US" sz="1100" dirty="0">
                <a:solidFill>
                  <a:schemeClr val="accent6"/>
                </a:solidFill>
              </a:rPr>
              <a:t>Gap nodes: coreness &gt; cohesion level, 0–15.7% of nodes (largest: Facebook)</a:t>
            </a:r>
            <a:endParaRPr lang="en-US" sz="11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1143000"/>
          </a:xfrm>
          <a:prstGeom prst="rect">
            <a:avLst/>
          </a:prstGeom>
          <a:noFill/>
          <a:ln/>
        </p:spPr>
        <p:txBody>
          <a:bodyPr wrap="square" lIns="0" tIns="0" rIns="0" bIns="0" rtlCol="0" anchor="t"/>
          <a:lstStyle/>
          <a:p>
            <a:pPr algn="l" indent="0" marL="0">
              <a:buNone/>
            </a:pPr>
            <a:r>
              <a:rPr lang="en-US" sz="3400" b="1" dirty="0">
                <a:solidFill>
                  <a:schemeClr val="tx1"/>
                </a:solidFill>
              </a:rPr>
              <a:t>RQ1 · Group by group, they diverge</a:t>
            </a:r>
            <a:endParaRPr lang="en-US" sz="3400" dirty="0"/>
          </a:p>
        </p:txBody>
      </p:sp>
      <p:sp>
        <p:nvSpPr>
          <p:cNvPr id="4" name="Figure panel"/>
          <p:cNvSpPr/>
          <p:nvPr/>
        </p:nvSpPr>
        <p:spPr>
          <a:xfrm>
            <a:off x="548640" y="1645920"/>
            <a:ext cx="7040880" cy="4389120"/>
          </a:xfrm>
          <a:prstGeom prst="roundRect">
            <a:avLst>
              <a:gd name="adj" fmla="val 2500"/>
            </a:avLst>
          </a:prstGeom>
          <a:solidFill>
            <a:schemeClr val="bg2"/>
          </a:solidFill>
          <a:ln/>
        </p:spPr>
      </p:sp>
      <p:pic>
        <p:nvPicPr>
          <p:cNvPr id="5" name="Number of connected k-core groups versus number of k-components for each k in the eight networks" descr="/home/claude/repo/results/figures/fig4_group_structure_by_k.png">    </p:cNvPr>
          <p:cNvPicPr>
            <a:picLocks noChangeAspect="1"/>
          </p:cNvPicPr>
          <p:nvPr/>
        </p:nvPicPr>
        <p:blipFill>
          <a:blip r:embed="rId1"/>
          <a:stretch>
            <a:fillRect/>
          </a:stretch>
        </p:blipFill>
        <p:spPr>
          <a:xfrm>
            <a:off x="658368" y="1999552"/>
            <a:ext cx="6821424" cy="3681856"/>
          </a:xfrm>
          <a:prstGeom prst="rect">
            <a:avLst/>
          </a:prstGeom>
        </p:spPr>
      </p:pic>
      <p:sp>
        <p:nvSpPr>
          <p:cNvPr id="6" name="Lead"/>
          <p:cNvSpPr txBox="1"/>
          <p:nvPr/>
        </p:nvSpPr>
        <p:spPr>
          <a:xfrm>
            <a:off x="7909560" y="1691640"/>
            <a:ext cx="3733495" cy="731520"/>
          </a:xfrm>
          <a:prstGeom prst="rect">
            <a:avLst/>
          </a:prstGeom>
          <a:noFill/>
          <a:ln/>
        </p:spPr>
        <p:txBody>
          <a:bodyPr wrap="square" lIns="0" tIns="0" rIns="0" bIns="0" rtlCol="0" anchor="t"/>
          <a:lstStyle/>
          <a:p>
            <a:pPr indent="0" marL="0">
              <a:buNone/>
            </a:pPr>
            <a:r>
              <a:rPr lang="en-US" sz="1700" dirty="0">
                <a:solidFill>
                  <a:schemeClr val="tx2"/>
                </a:solidFill>
              </a:rPr>
              <a:t>One connected k-core can hold many overlapping k-components.</a:t>
            </a:r>
            <a:endParaRPr lang="en-US" sz="1700" dirty="0"/>
          </a:p>
        </p:txBody>
      </p:sp>
      <p:sp>
        <p:nvSpPr>
          <p:cNvPr id="7" name="Stat 1"/>
          <p:cNvSpPr txBox="1"/>
          <p:nvPr/>
        </p:nvSpPr>
        <p:spPr>
          <a:xfrm>
            <a:off x="7909560" y="2468880"/>
            <a:ext cx="3733495"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260</a:t>
            </a:r>
            <a:endParaRPr lang="en-US" sz="4000" dirty="0"/>
          </a:p>
        </p:txBody>
      </p:sp>
      <p:sp>
        <p:nvSpPr>
          <p:cNvPr id="8" name="Stat 1 caption"/>
          <p:cNvSpPr txBox="1"/>
          <p:nvPr/>
        </p:nvSpPr>
        <p:spPr>
          <a:xfrm>
            <a:off x="7909560" y="3200400"/>
            <a:ext cx="3733495" cy="685800"/>
          </a:xfrm>
          <a:prstGeom prst="rect">
            <a:avLst/>
          </a:prstGeom>
          <a:noFill/>
          <a:ln/>
        </p:spPr>
        <p:txBody>
          <a:bodyPr wrap="square" lIns="0" tIns="0" rIns="0" bIns="0" rtlCol="0" anchor="t"/>
          <a:lstStyle/>
          <a:p>
            <a:pPr indent="0" marL="0">
              <a:buNone/>
            </a:pPr>
            <a:r>
              <a:rPr lang="en-US" sz="1600" b="1" dirty="0">
                <a:solidFill>
                  <a:schemeClr val="tx1"/>
                </a:solidFill>
              </a:rPr>
              <a:t>GrQc: </a:t>
            </a:r>
            <a:pPr indent="0" marL="0">
              <a:buNone/>
            </a:pPr>
            <a:r>
              <a:rPr lang="en-US" sz="1600" dirty="0">
                <a:solidFill>
                  <a:schemeClr val="tx2"/>
                </a:solidFill>
              </a:rPr>
              <a:t>1 connected 2-core holds 260 2‑components.</a:t>
            </a:r>
            <a:endParaRPr lang="en-US" sz="1600" dirty="0"/>
          </a:p>
        </p:txBody>
      </p:sp>
      <p:sp>
        <p:nvSpPr>
          <p:cNvPr id="9" name="Stat 2"/>
          <p:cNvSpPr txBox="1"/>
          <p:nvPr/>
        </p:nvSpPr>
        <p:spPr>
          <a:xfrm>
            <a:off x="7909560" y="3931920"/>
            <a:ext cx="3733495"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Up to 7.7×</a:t>
            </a:r>
            <a:endParaRPr lang="en-US" sz="4000" dirty="0"/>
          </a:p>
        </p:txBody>
      </p:sp>
      <p:sp>
        <p:nvSpPr>
          <p:cNvPr id="10" name="Stat 2 caption"/>
          <p:cNvSpPr txBox="1"/>
          <p:nvPr/>
        </p:nvSpPr>
        <p:spPr>
          <a:xfrm>
            <a:off x="7909560" y="4663440"/>
            <a:ext cx="3733495" cy="640080"/>
          </a:xfrm>
          <a:prstGeom prst="rect">
            <a:avLst/>
          </a:prstGeom>
          <a:noFill/>
          <a:ln/>
        </p:spPr>
        <p:txBody>
          <a:bodyPr wrap="square" lIns="0" tIns="0" rIns="0" bIns="0" rtlCol="0" anchor="t"/>
          <a:lstStyle/>
          <a:p>
            <a:pPr indent="0" marL="0">
              <a:buNone/>
            </a:pPr>
            <a:r>
              <a:rPr lang="en-US" sz="1600" dirty="0">
                <a:solidFill>
                  <a:schemeClr val="tx2"/>
                </a:solidFill>
              </a:rPr>
              <a:t>more cohesive groups (power grid); none in Email-EU, C. elegans.</a:t>
            </a:r>
            <a:endParaRPr lang="en-US" sz="1600" dirty="0"/>
          </a:p>
        </p:txBody>
      </p:sp>
      <p:sp>
        <p:nvSpPr>
          <p:cNvPr id="11" name="Closing line"/>
          <p:cNvSpPr txBox="1"/>
          <p:nvPr/>
        </p:nvSpPr>
        <p:spPr>
          <a:xfrm>
            <a:off x="7909560" y="5440680"/>
            <a:ext cx="3733495" cy="594360"/>
          </a:xfrm>
          <a:prstGeom prst="rect">
            <a:avLst/>
          </a:prstGeom>
          <a:noFill/>
          <a:ln/>
        </p:spPr>
        <p:txBody>
          <a:bodyPr wrap="square" lIns="0" tIns="0" rIns="0" bIns="0" rtlCol="0" anchor="t"/>
          <a:lstStyle/>
          <a:p>
            <a:pPr indent="0" marL="0">
              <a:buNone/>
            </a:pPr>
            <a:r>
              <a:rPr lang="en-US" sz="1600" b="1" dirty="0">
                <a:solidFill>
                  <a:schemeClr val="tx1"/>
                </a:solidFill>
              </a:rPr>
              <a:t>Gap tracks clustering and assortativity, not domain.</a:t>
            </a:r>
            <a:endParaRPr lang="en-US" sz="1600" dirty="0"/>
          </a:p>
        </p:txBody>
      </p:sp>
      <p:sp>
        <p:nvSpPr>
          <p:cNvPr id="12" name="Footnote"/>
          <p:cNvSpPr txBox="1"/>
          <p:nvPr/>
        </p:nvSpPr>
        <p:spPr>
          <a:xfrm>
            <a:off x="548640" y="6355080"/>
            <a:ext cx="10241280" cy="274320"/>
          </a:xfrm>
          <a:prstGeom prst="rect">
            <a:avLst/>
          </a:prstGeom>
          <a:noFill/>
          <a:ln/>
        </p:spPr>
        <p:txBody>
          <a:bodyPr wrap="square" lIns="0" tIns="0" rIns="0" bIns="0" rtlCol="0" anchor="ctr"/>
          <a:lstStyle/>
          <a:p>
            <a:pPr indent="0" marL="0">
              <a:buNone/>
            </a:pPr>
            <a:r>
              <a:rPr lang="en-US" sz="1100" dirty="0">
                <a:solidFill>
                  <a:schemeClr val="accent6"/>
                </a:solidFill>
              </a:rPr>
              <a:t>Orange: k-components; blue: connected k-core groups (log scale)</a:t>
            </a:r>
            <a:endParaRPr lang="en-US" sz="11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1143000"/>
          </a:xfrm>
          <a:prstGeom prst="rect">
            <a:avLst/>
          </a:prstGeom>
          <a:noFill/>
          <a:ln/>
        </p:spPr>
        <p:txBody>
          <a:bodyPr wrap="square" lIns="0" tIns="0" rIns="0" bIns="0" rtlCol="0" anchor="t"/>
          <a:lstStyle/>
          <a:p>
            <a:pPr algn="l" indent="0" marL="0">
              <a:buNone/>
            </a:pPr>
            <a:r>
              <a:rPr lang="en-US" sz="3400" b="1" dirty="0">
                <a:solidFill>
                  <a:schemeClr val="tx1"/>
                </a:solidFill>
              </a:rPr>
              <a:t>The group-level gap is real structure, not chance</a:t>
            </a:r>
            <a:endParaRPr lang="en-US" sz="3400" dirty="0"/>
          </a:p>
        </p:txBody>
      </p:sp>
      <p:sp>
        <p:nvSpPr>
          <p:cNvPr id="4" name="Figure panel"/>
          <p:cNvSpPr/>
          <p:nvPr/>
        </p:nvSpPr>
        <p:spPr>
          <a:xfrm>
            <a:off x="548640" y="1600200"/>
            <a:ext cx="11094415" cy="3108960"/>
          </a:xfrm>
          <a:prstGeom prst="roundRect">
            <a:avLst>
              <a:gd name="adj" fmla="val 3529"/>
            </a:avLst>
          </a:prstGeom>
          <a:solidFill>
            <a:schemeClr val="bg1"/>
          </a:solidFill>
          <a:ln/>
        </p:spPr>
      </p:sp>
      <p:pic>
        <p:nvPicPr>
          <p:cNvPr id="5" name="Observed fragmentation, broker fraction and Borgatti–Everett correlation for each network compared with 100 degree-preserving randomisations" descr="/home/claude/repo/results/figures/fig8_null_models.png">    </p:cNvPr>
          <p:cNvPicPr>
            <a:picLocks noChangeAspect="1"/>
          </p:cNvPicPr>
          <p:nvPr/>
        </p:nvPicPr>
        <p:blipFill>
          <a:blip r:embed="rId1"/>
          <a:stretch>
            <a:fillRect/>
          </a:stretch>
        </p:blipFill>
        <p:spPr>
          <a:xfrm>
            <a:off x="2179206" y="1691640"/>
            <a:ext cx="7833284" cy="2926080"/>
          </a:xfrm>
          <a:prstGeom prst="rect">
            <a:avLst/>
          </a:prstGeom>
        </p:spPr>
      </p:pic>
      <p:sp>
        <p:nvSpPr>
          <p:cNvPr id="6" name="Caption left"/>
          <p:cNvSpPr txBox="1"/>
          <p:nvPr/>
        </p:nvSpPr>
        <p:spPr>
          <a:xfrm>
            <a:off x="548640" y="4937760"/>
            <a:ext cx="5442052" cy="1234440"/>
          </a:xfrm>
          <a:prstGeom prst="rect">
            <a:avLst/>
          </a:prstGeom>
          <a:noFill/>
          <a:ln/>
        </p:spPr>
        <p:txBody>
          <a:bodyPr wrap="square" lIns="0" tIns="0" rIns="0" bIns="0" rtlCol="0" anchor="t"/>
          <a:lstStyle/>
          <a:p>
            <a:pPr indent="0" marL="0">
              <a:buNone/>
            </a:pPr>
            <a:r>
              <a:rPr lang="en-US" sz="1600" dirty="0">
                <a:solidFill>
                  <a:schemeClr val="tx2"/>
                </a:solidFill>
              </a:rPr>
              <a:t>In 100 rewired copies per network the gap </a:t>
            </a:r>
            <a:pPr indent="0" marL="0">
              <a:buNone/>
            </a:pPr>
            <a:r>
              <a:rPr lang="en-US" sz="1600" b="1" dirty="0">
                <a:solidFill>
                  <a:schemeClr val="tx1"/>
                </a:solidFill>
              </a:rPr>
              <a:t>vanishes</a:t>
            </a:r>
            <a:pPr indent="0" marL="0">
              <a:buNone/>
            </a:pPr>
            <a:r>
              <a:rPr lang="en-US" sz="1600" dirty="0">
                <a:solidFill>
                  <a:schemeClr val="tx2"/>
                </a:solidFill>
              </a:rPr>
              <a:t>: fragmentation ≈ 1, no brokers — as Łuczak’s theorem predicts for random graphs.</a:t>
            </a:r>
            <a:endParaRPr lang="en-US" sz="1600" dirty="0"/>
          </a:p>
        </p:txBody>
      </p:sp>
      <p:sp>
        <p:nvSpPr>
          <p:cNvPr id="7" name="Caption right"/>
          <p:cNvSpPr txBox="1"/>
          <p:nvPr/>
        </p:nvSpPr>
        <p:spPr>
          <a:xfrm>
            <a:off x="6201004" y="4937760"/>
            <a:ext cx="5442052" cy="1234440"/>
          </a:xfrm>
          <a:prstGeom prst="rect">
            <a:avLst/>
          </a:prstGeom>
          <a:noFill/>
          <a:ln/>
        </p:spPr>
        <p:txBody>
          <a:bodyPr wrap="square" lIns="0" tIns="0" rIns="0" bIns="0" rtlCol="0" anchor="t"/>
          <a:lstStyle/>
          <a:p>
            <a:pPr indent="0" marL="0">
              <a:buNone/>
            </a:pPr>
            <a:r>
              <a:rPr lang="en-US" sz="1600" dirty="0">
                <a:solidFill>
                  <a:schemeClr val="tx2"/>
                </a:solidFill>
              </a:rPr>
              <a:t>GrQc, Facebook, Yeast, power grid: observed values above </a:t>
            </a:r>
            <a:pPr indent="0" marL="0">
              <a:buNone/>
            </a:pPr>
            <a:r>
              <a:rPr lang="en-US" sz="1600" b="1" dirty="0">
                <a:solidFill>
                  <a:schemeClr val="tx1"/>
                </a:solidFill>
              </a:rPr>
              <a:t>all 100</a:t>
            </a:r>
            <a:pPr indent="0" marL="0">
              <a:buNone/>
            </a:pPr>
            <a:r>
              <a:rPr lang="en-US" sz="1600" dirty="0">
                <a:solidFill>
                  <a:schemeClr val="tx2"/>
                </a:solidFill>
              </a:rPr>
              <a:t> copies (p = 0.02). BE fit is </a:t>
            </a:r>
            <a:pPr indent="0" marL="0">
              <a:buNone/>
            </a:pPr>
            <a:r>
              <a:rPr lang="en-US" sz="1600" i="1" dirty="0">
                <a:solidFill>
                  <a:schemeClr val="tx2"/>
                </a:solidFill>
              </a:rPr>
              <a:t>lower</a:t>
            </a:r>
            <a:pPr indent="0" marL="0">
              <a:buNone/>
            </a:pPr>
            <a:r>
              <a:rPr lang="en-US" sz="1600" dirty="0">
                <a:solidFill>
                  <a:schemeClr val="tx2"/>
                </a:solidFill>
              </a:rPr>
              <a:t> than random in 5 of 8.</a:t>
            </a:r>
            <a:endParaRPr lang="en-US" sz="1600" dirty="0"/>
          </a:p>
        </p:txBody>
      </p:sp>
      <p:sp>
        <p:nvSpPr>
          <p:cNvPr id="8" name="Footnote"/>
          <p:cNvSpPr txBox="1"/>
          <p:nvPr/>
        </p:nvSpPr>
        <p:spPr>
          <a:xfrm>
            <a:off x="548640" y="6355080"/>
            <a:ext cx="10241280" cy="274320"/>
          </a:xfrm>
          <a:prstGeom prst="rect">
            <a:avLst/>
          </a:prstGeom>
          <a:noFill/>
          <a:ln/>
        </p:spPr>
        <p:txBody>
          <a:bodyPr wrap="square" lIns="0" tIns="0" rIns="0" bIns="0" rtlCol="0" anchor="ctr"/>
          <a:lstStyle/>
          <a:p>
            <a:pPr indent="0" marL="0">
              <a:buNone/>
            </a:pPr>
            <a:r>
              <a:rPr lang="en-US" sz="1100" dirty="0">
                <a:solidFill>
                  <a:schemeClr val="accent6"/>
                </a:solidFill>
              </a:rPr>
              <a:t>Degree-preserving double-edge swaps, 10 × M swaps each</a:t>
            </a:r>
            <a:endParaRPr lang="en-US" sz="11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1143000"/>
          </a:xfrm>
          <a:prstGeom prst="rect">
            <a:avLst/>
          </a:prstGeom>
          <a:noFill/>
          <a:ln/>
        </p:spPr>
        <p:txBody>
          <a:bodyPr wrap="square" lIns="0" tIns="0" rIns="0" bIns="0" rtlCol="0" anchor="t"/>
          <a:lstStyle/>
          <a:p>
            <a:pPr algn="l" indent="0" marL="0">
              <a:buNone/>
            </a:pPr>
            <a:r>
              <a:rPr lang="en-US" sz="3400" b="1" dirty="0">
                <a:solidFill>
                  <a:schemeClr val="tx1"/>
                </a:solidFill>
              </a:rPr>
              <a:t>RQ2 · Brokers, not levels, find the critical nodes</a:t>
            </a:r>
            <a:endParaRPr lang="en-US" sz="3400" dirty="0"/>
          </a:p>
        </p:txBody>
      </p:sp>
      <p:sp>
        <p:nvSpPr>
          <p:cNvPr id="4" name="Figure panel"/>
          <p:cNvSpPr/>
          <p:nvPr/>
        </p:nvSpPr>
        <p:spPr>
          <a:xfrm>
            <a:off x="548640" y="1645920"/>
            <a:ext cx="6766560" cy="4434840"/>
          </a:xfrm>
          <a:prstGeom prst="roundRect">
            <a:avLst>
              <a:gd name="adj" fmla="val 2474"/>
            </a:avLst>
          </a:prstGeom>
          <a:solidFill>
            <a:schemeClr val="bg2"/>
          </a:solidFill>
          <a:ln/>
        </p:spPr>
      </p:sp>
      <p:pic>
        <p:nvPicPr>
          <p:cNvPr id="5" name="Robustness curves: fraction of nodes in the giant component as nodes are removed, for each ordering in the eight networks" descr="/home/claude/repo/results/figures/fig5_robustness_curves.png">    </p:cNvPr>
          <p:cNvPicPr>
            <a:picLocks noChangeAspect="1"/>
          </p:cNvPicPr>
          <p:nvPr/>
        </p:nvPicPr>
        <p:blipFill>
          <a:blip r:embed="rId1"/>
          <a:stretch>
            <a:fillRect/>
          </a:stretch>
        </p:blipFill>
        <p:spPr>
          <a:xfrm>
            <a:off x="658368" y="1895590"/>
            <a:ext cx="6547104" cy="3935500"/>
          </a:xfrm>
          <a:prstGeom prst="rect">
            <a:avLst/>
          </a:prstGeom>
        </p:spPr>
      </p:pic>
      <p:sp>
        <p:nvSpPr>
          <p:cNvPr id="6" name="Finding card 1"/>
          <p:cNvSpPr/>
          <p:nvPr/>
        </p:nvSpPr>
        <p:spPr>
          <a:xfrm>
            <a:off x="7543800" y="1645920"/>
            <a:ext cx="4099255" cy="1371600"/>
          </a:xfrm>
          <a:prstGeom prst="roundRect">
            <a:avLst>
              <a:gd name="adj" fmla="val 8000"/>
            </a:avLst>
          </a:prstGeom>
          <a:solidFill>
            <a:schemeClr val="bg2"/>
          </a:solidFill>
          <a:ln/>
        </p:spPr>
      </p:sp>
      <p:sp>
        <p:nvSpPr>
          <p:cNvPr id="7" name="Marker 1"/>
          <p:cNvSpPr txBox="1"/>
          <p:nvPr/>
        </p:nvSpPr>
        <p:spPr>
          <a:xfrm>
            <a:off x="7818120" y="2212848"/>
            <a:ext cx="237744" cy="237744"/>
          </a:xfrm>
          <a:prstGeom prst="ellipse">
            <a:avLst/>
          </a:prstGeom>
          <a:solidFill>
            <a:schemeClr val="accent1"/>
          </a:solidFill>
          <a:ln/>
        </p:spPr>
        <p:txBody>
          <a:bodyPr wrap="square" lIns="0" tIns="0" rIns="0" bIns="0" rtlCol="0" anchor="ctr"/>
          <a:lstStyle/>
          <a:p>
            <a:pPr algn="ctr" indent="0" marL="0">
              <a:buNone/>
            </a:pPr>
            <a:endParaRPr lang="en-US" sz="1000" dirty="0"/>
          </a:p>
        </p:txBody>
      </p:sp>
      <p:sp>
        <p:nvSpPr>
          <p:cNvPr id="8" name="Finding 1"/>
          <p:cNvSpPr txBox="1"/>
          <p:nvPr/>
        </p:nvSpPr>
        <p:spPr>
          <a:xfrm>
            <a:off x="8229600" y="1783080"/>
            <a:ext cx="3184855" cy="1097280"/>
          </a:xfrm>
          <a:prstGeom prst="rect">
            <a:avLst/>
          </a:prstGeom>
          <a:noFill/>
          <a:ln/>
        </p:spPr>
        <p:txBody>
          <a:bodyPr wrap="square" lIns="0" tIns="0" rIns="0" bIns="0" rtlCol="0" anchor="ctr"/>
          <a:lstStyle/>
          <a:p>
            <a:pPr indent="0" marL="0">
              <a:buNone/>
            </a:pPr>
            <a:r>
              <a:rPr lang="en-US" sz="1600" b="1" dirty="0">
                <a:solidFill>
                  <a:schemeClr val="tx1"/>
                </a:solidFill>
              </a:rPr>
              <a:t>Cohesion ≈ k-core</a:t>
            </a:r>
            <a:pPr indent="0" marL="0">
              <a:buNone/>
            </a:pPr>
            <a:r>
              <a:rPr lang="en-US" sz="1600" dirty="0">
                <a:solidFill>
                  <a:schemeClr val="tx2"/>
                </a:solidFill>
              </a:rPr>
              <a:t>: ΔR = +0.002, CI [−0.001, 0.005]. H2 not supported.</a:t>
            </a:r>
            <a:endParaRPr lang="en-US" sz="1600" dirty="0"/>
          </a:p>
        </p:txBody>
      </p:sp>
      <p:sp>
        <p:nvSpPr>
          <p:cNvPr id="9" name="Finding card 2"/>
          <p:cNvSpPr/>
          <p:nvPr/>
        </p:nvSpPr>
        <p:spPr>
          <a:xfrm>
            <a:off x="7543800" y="3182112"/>
            <a:ext cx="4099255" cy="1371600"/>
          </a:xfrm>
          <a:prstGeom prst="roundRect">
            <a:avLst>
              <a:gd name="adj" fmla="val 8000"/>
            </a:avLst>
          </a:prstGeom>
          <a:solidFill>
            <a:schemeClr val="bg2"/>
          </a:solidFill>
          <a:ln/>
        </p:spPr>
      </p:sp>
      <p:sp>
        <p:nvSpPr>
          <p:cNvPr id="10" name="Marker 2"/>
          <p:cNvSpPr txBox="1"/>
          <p:nvPr/>
        </p:nvSpPr>
        <p:spPr>
          <a:xfrm>
            <a:off x="7818120" y="3749040"/>
            <a:ext cx="237744" cy="237744"/>
          </a:xfrm>
          <a:prstGeom prst="ellipse">
            <a:avLst/>
          </a:prstGeom>
          <a:solidFill>
            <a:schemeClr val="accent3"/>
          </a:solidFill>
          <a:ln/>
        </p:spPr>
        <p:txBody>
          <a:bodyPr wrap="square" lIns="0" tIns="0" rIns="0" bIns="0" rtlCol="0" anchor="ctr"/>
          <a:lstStyle/>
          <a:p>
            <a:pPr algn="ctr" indent="0" marL="0">
              <a:buNone/>
            </a:pPr>
            <a:endParaRPr lang="en-US" sz="1000" dirty="0"/>
          </a:p>
        </p:txBody>
      </p:sp>
      <p:sp>
        <p:nvSpPr>
          <p:cNvPr id="11" name="Finding 2"/>
          <p:cNvSpPr txBox="1"/>
          <p:nvPr/>
        </p:nvSpPr>
        <p:spPr>
          <a:xfrm>
            <a:off x="8229600" y="3319272"/>
            <a:ext cx="3184855" cy="1097280"/>
          </a:xfrm>
          <a:prstGeom prst="rect">
            <a:avLst/>
          </a:prstGeom>
          <a:noFill/>
          <a:ln/>
        </p:spPr>
        <p:txBody>
          <a:bodyPr wrap="square" lIns="0" tIns="0" rIns="0" bIns="0" rtlCol="0" anchor="ctr"/>
          <a:lstStyle/>
          <a:p>
            <a:pPr indent="0" marL="0">
              <a:buNone/>
            </a:pPr>
            <a:r>
              <a:rPr lang="en-US" sz="1600" b="1" dirty="0">
                <a:solidFill>
                  <a:schemeClr val="tx1"/>
                </a:solidFill>
              </a:rPr>
              <a:t>Brokers first</a:t>
            </a:r>
            <a:pPr indent="0" marL="0">
              <a:buNone/>
            </a:pPr>
            <a:r>
              <a:rPr lang="en-US" sz="1600" dirty="0">
                <a:solidFill>
                  <a:schemeClr val="tx2"/>
                </a:solidFill>
              </a:rPr>
              <a:t> beats k-core and cohesion in </a:t>
            </a:r>
            <a:pPr indent="0" marL="0">
              <a:buNone/>
            </a:pPr>
            <a:r>
              <a:rPr lang="en-US" sz="1600" b="1" dirty="0">
                <a:solidFill>
                  <a:schemeClr val="tx1"/>
                </a:solidFill>
              </a:rPr>
              <a:t>8/8</a:t>
            </a:r>
            <a:pPr indent="0" marL="0">
              <a:buNone/>
            </a:pPr>
            <a:r>
              <a:rPr lang="en-US" sz="1600" dirty="0">
                <a:solidFill>
                  <a:schemeClr val="tx2"/>
                </a:solidFill>
              </a:rPr>
              <a:t> networks; up to </a:t>
            </a:r>
            <a:pPr indent="0" marL="0">
              <a:buNone/>
            </a:pPr>
            <a:r>
              <a:rPr lang="en-US" sz="1600" b="1" dirty="0">
                <a:solidFill>
                  <a:schemeClr val="tx1"/>
                </a:solidFill>
              </a:rPr>
              <a:t>44%</a:t>
            </a:r>
            <a:pPr indent="0" marL="0">
              <a:buNone/>
            </a:pPr>
            <a:r>
              <a:rPr lang="en-US" sz="1600" dirty="0">
                <a:solidFill>
                  <a:schemeClr val="tx2"/>
                </a:solidFill>
              </a:rPr>
              <a:t> lower R.</a:t>
            </a:r>
            <a:endParaRPr lang="en-US" sz="1600" dirty="0"/>
          </a:p>
        </p:txBody>
      </p:sp>
      <p:sp>
        <p:nvSpPr>
          <p:cNvPr id="12" name="Finding card 3"/>
          <p:cNvSpPr/>
          <p:nvPr/>
        </p:nvSpPr>
        <p:spPr>
          <a:xfrm>
            <a:off x="7543800" y="4718304"/>
            <a:ext cx="4099255" cy="1371600"/>
          </a:xfrm>
          <a:prstGeom prst="roundRect">
            <a:avLst>
              <a:gd name="adj" fmla="val 8000"/>
            </a:avLst>
          </a:prstGeom>
          <a:solidFill>
            <a:schemeClr val="bg2"/>
          </a:solidFill>
          <a:ln/>
        </p:spPr>
      </p:sp>
      <p:sp>
        <p:nvSpPr>
          <p:cNvPr id="13" name="Marker 3"/>
          <p:cNvSpPr txBox="1"/>
          <p:nvPr/>
        </p:nvSpPr>
        <p:spPr>
          <a:xfrm>
            <a:off x="7818120" y="5285232"/>
            <a:ext cx="237744" cy="237744"/>
          </a:xfrm>
          <a:prstGeom prst="ellipse">
            <a:avLst/>
          </a:prstGeom>
          <a:solidFill>
            <a:schemeClr val="accent2"/>
          </a:solidFill>
          <a:ln/>
        </p:spPr>
        <p:txBody>
          <a:bodyPr wrap="square" lIns="0" tIns="0" rIns="0" bIns="0" rtlCol="0" anchor="ctr"/>
          <a:lstStyle/>
          <a:p>
            <a:pPr algn="ctr" indent="0" marL="0">
              <a:buNone/>
            </a:pPr>
            <a:endParaRPr lang="en-US" sz="1000" dirty="0"/>
          </a:p>
        </p:txBody>
      </p:sp>
      <p:sp>
        <p:nvSpPr>
          <p:cNvPr id="14" name="Finding 3"/>
          <p:cNvSpPr txBox="1"/>
          <p:nvPr/>
        </p:nvSpPr>
        <p:spPr>
          <a:xfrm>
            <a:off x="8229600" y="4855464"/>
            <a:ext cx="3184855" cy="1097280"/>
          </a:xfrm>
          <a:prstGeom prst="rect">
            <a:avLst/>
          </a:prstGeom>
          <a:noFill/>
          <a:ln/>
        </p:spPr>
        <p:txBody>
          <a:bodyPr wrap="square" lIns="0" tIns="0" rIns="0" bIns="0" rtlCol="0" anchor="ctr"/>
          <a:lstStyle/>
          <a:p>
            <a:pPr indent="0" marL="0">
              <a:buNone/>
            </a:pPr>
            <a:r>
              <a:rPr lang="en-US" sz="1600" dirty="0">
                <a:solidFill>
                  <a:schemeClr val="tx2"/>
                </a:solidFill>
              </a:rPr>
              <a:t>Gain tracks group disagreement: </a:t>
            </a:r>
            <a:pPr indent="0" marL="0">
              <a:buNone/>
            </a:pPr>
            <a:r>
              <a:rPr lang="en-US" sz="1600" b="1" dirty="0">
                <a:solidFill>
                  <a:schemeClr val="tx1"/>
                </a:solidFill>
              </a:rPr>
              <a:t>ρ = 0.88</a:t>
            </a:r>
            <a:pPr indent="0" marL="0">
              <a:buNone/>
            </a:pPr>
            <a:r>
              <a:rPr lang="en-US" sz="1600" dirty="0">
                <a:solidFill>
                  <a:schemeClr val="tx2"/>
                </a:solidFill>
              </a:rPr>
              <a:t>, p = 0.004.</a:t>
            </a:r>
            <a:endParaRPr lang="en-US" sz="1600" dirty="0"/>
          </a:p>
        </p:txBody>
      </p:sp>
      <p:sp>
        <p:nvSpPr>
          <p:cNvPr id="15" name="Footnote"/>
          <p:cNvSpPr txBox="1"/>
          <p:nvPr/>
        </p:nvSpPr>
        <p:spPr>
          <a:xfrm>
            <a:off x="548640" y="6355080"/>
            <a:ext cx="10241280" cy="274320"/>
          </a:xfrm>
          <a:prstGeom prst="rect">
            <a:avLst/>
          </a:prstGeom>
          <a:noFill/>
          <a:ln/>
        </p:spPr>
        <p:txBody>
          <a:bodyPr wrap="square" lIns="0" tIns="0" rIns="0" bIns="0" rtlCol="0" anchor="ctr"/>
          <a:lstStyle/>
          <a:p>
            <a:pPr indent="0" marL="0">
              <a:buNone/>
            </a:pPr>
            <a:r>
              <a:rPr lang="en-US" sz="1100" dirty="0">
                <a:solidFill>
                  <a:schemeClr val="accent6"/>
                </a:solidFill>
              </a:rPr>
              <a:t>Betweenness still best on 4 networks; adaptive degree beats brokerage on 6 — reported honestly</a:t>
            </a:r>
            <a:endParaRPr lang="en-US" sz="11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1143000"/>
          </a:xfrm>
          <a:prstGeom prst="rect">
            <a:avLst/>
          </a:prstGeom>
          <a:noFill/>
          <a:ln/>
        </p:spPr>
        <p:txBody>
          <a:bodyPr wrap="square" lIns="0" tIns="0" rIns="0" bIns="0" rtlCol="0" anchor="t"/>
          <a:lstStyle/>
          <a:p>
            <a:pPr algn="l" indent="0" marL="0">
              <a:buNone/>
            </a:pPr>
            <a:r>
              <a:rPr lang="en-US" sz="3400" b="1" dirty="0">
                <a:solidFill>
                  <a:schemeClr val="tx1"/>
                </a:solidFill>
              </a:rPr>
              <a:t>Brokerage is more than articulation points</a:t>
            </a:r>
            <a:endParaRPr lang="en-US" sz="3400" dirty="0"/>
          </a:p>
        </p:txBody>
      </p:sp>
      <p:graphicFrame>
        <p:nvGraphicFramePr>
          <p:cNvPr id="11" name="Ablation 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743200"/>
                <a:gridCol w="1280160"/>
                <a:gridCol w="1828800"/>
                <a:gridCol w="1691640"/>
                <a:gridCol w="1691640"/>
                <a:gridCol w="1858975"/>
              </a:tblGrid>
              <a:tr h="685800">
                <a:tc>
                  <a:txBody>
                    <a:bodyPr/>
                    <a:lstStyle/>
                    <a:p>
                      <a:pPr algn="l" indent="0" marL="0">
                        <a:buNone/>
                      </a:pPr>
                      <a:r>
                        <a:rPr lang="en-US" sz="1400" b="1" dirty="0">
                          <a:solidFill>
                            <a:schemeClr val="bg1"/>
                          </a:solidFill>
                        </a:rPr>
                        <a:t>Robustness R (lower is better)</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Degree</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Articulation pts</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Brokers k=2</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Brokers k≥3</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tx1"/>
                    </a:solidFill>
                  </a:tcPr>
                </a:tc>
                <a:tc>
                  <a:txBody>
                    <a:bodyPr/>
                    <a:lstStyle/>
                    <a:p>
                      <a:pPr algn="r" indent="0" marL="0">
                        <a:buNone/>
                      </a:pPr>
                      <a:r>
                        <a:rPr lang="en-US" sz="1400" b="1" dirty="0">
                          <a:solidFill>
                            <a:schemeClr val="bg1"/>
                          </a:solidFill>
                        </a:rPr>
                        <a:t>All levels</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tx1"/>
                    </a:solidFill>
                  </a:tcPr>
                </a:tc>
              </a:tr>
              <a:tr h="548640">
                <a:tc>
                  <a:txBody>
                    <a:bodyPr/>
                    <a:lstStyle/>
                    <a:p>
                      <a:pPr algn="l" indent="0" marL="0">
                        <a:buNone/>
                      </a:pPr>
                      <a:r>
                        <a:rPr lang="en-US" sz="1400" b="1" dirty="0">
                          <a:solidFill>
                            <a:schemeClr val="tx1"/>
                          </a:solidFill>
                        </a:rPr>
                        <a:t>Facebook</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0.295</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0.283</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0.283</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0.224 (best)</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accent3"/>
                    </a:solidFill>
                  </a:tcPr>
                </a:tc>
                <a:tc>
                  <a:txBody>
                    <a:bodyPr/>
                    <a:lstStyle/>
                    <a:p>
                      <a:pPr algn="r" indent="0" marL="0">
                        <a:buNone/>
                      </a:pPr>
                      <a:r>
                        <a:rPr lang="en-US" sz="1400" b="1" dirty="0">
                          <a:solidFill>
                            <a:schemeClr val="tx1"/>
                          </a:solidFill>
                        </a:rPr>
                        <a:t>0.224 (best)</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accent3"/>
                    </a:solidFill>
                  </a:tcPr>
                </a:tc>
              </a:tr>
              <a:tr h="548640">
                <a:tc>
                  <a:txBody>
                    <a:bodyPr/>
                    <a:lstStyle/>
                    <a:p>
                      <a:pPr algn="l" indent="0" marL="0">
                        <a:buNone/>
                      </a:pPr>
                      <a:r>
                        <a:rPr lang="en-US" sz="1400" b="1" dirty="0">
                          <a:solidFill>
                            <a:schemeClr val="tx1"/>
                          </a:solidFill>
                        </a:rPr>
                        <a:t>Yeast PPI</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0.274</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0.198</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0.230</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0.240</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0.185 (best)</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accent3"/>
                    </a:solidFill>
                  </a:tcPr>
                </a:tc>
              </a:tr>
              <a:tr h="548640">
                <a:tc>
                  <a:txBody>
                    <a:bodyPr/>
                    <a:lstStyle/>
                    <a:p>
                      <a:pPr algn="l" indent="0" marL="0">
                        <a:buNone/>
                      </a:pPr>
                      <a:r>
                        <a:rPr lang="en-US" sz="1400" b="1" dirty="0">
                          <a:solidFill>
                            <a:schemeClr val="tx1"/>
                          </a:solidFill>
                        </a:rPr>
                        <a:t>GrQc</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0.131</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0.135</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0.126 (best)</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accent3"/>
                    </a:solidFill>
                  </a:tcPr>
                </a:tc>
                <a:tc>
                  <a:txBody>
                    <a:bodyPr/>
                    <a:lstStyle/>
                    <a:p>
                      <a:pPr algn="r" indent="0" marL="0">
                        <a:buNone/>
                      </a:pPr>
                      <a:r>
                        <a:rPr lang="en-US" sz="1400" dirty="0">
                          <a:solidFill>
                            <a:schemeClr val="tx1"/>
                          </a:solidFill>
                        </a:rPr>
                        <a:t>0.128</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0.128</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bg1"/>
                    </a:solidFill>
                  </a:tcPr>
                </a:tc>
              </a:tr>
              <a:tr h="548640">
                <a:tc>
                  <a:txBody>
                    <a:bodyPr/>
                    <a:lstStyle/>
                    <a:p>
                      <a:pPr algn="l" indent="0" marL="0">
                        <a:buNone/>
                      </a:pPr>
                      <a:r>
                        <a:rPr lang="en-US" sz="1400" b="1" dirty="0">
                          <a:solidFill>
                            <a:schemeClr val="tx1"/>
                          </a:solidFill>
                        </a:rPr>
                        <a:t>Power grid</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rPr>
                        <a:t>0.063</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0.113 (worst)</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accent4"/>
                    </a:solidFill>
                  </a:tcPr>
                </a:tc>
                <a:tc>
                  <a:txBody>
                    <a:bodyPr/>
                    <a:lstStyle/>
                    <a:p>
                      <a:pPr algn="r" indent="0" marL="0">
                        <a:buNone/>
                      </a:pPr>
                      <a:r>
                        <a:rPr lang="en-US" sz="1400" dirty="0">
                          <a:solidFill>
                            <a:schemeClr val="tx1"/>
                          </a:solidFill>
                        </a:rPr>
                        <a:t>0.065</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rPr>
                        <a:t>0.063 (best)</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accent3"/>
                    </a:solidFill>
                  </a:tcPr>
                </a:tc>
                <a:tc>
                  <a:txBody>
                    <a:bodyPr/>
                    <a:lstStyle/>
                    <a:p>
                      <a:pPr algn="r" indent="0" marL="0">
                        <a:buNone/>
                      </a:pPr>
                      <a:r>
                        <a:rPr lang="en-US" sz="1400" dirty="0">
                          <a:solidFill>
                            <a:schemeClr val="tx1"/>
                          </a:solidFill>
                        </a:rPr>
                        <a:t>0.065</a:t>
                      </a:r>
                      <a:endParaRPr lang="en-US" sz="1400" dirty="0"/>
                    </a:p>
                  </a:txBody>
                  <a:tcPr marL="137160" marR="137160" marT="0" marB="0" anchor="ctr">
                    <a:lnL w="19050" cap="flat" cmpd="sng" algn="ctr">
                      <a:solidFill>
                        <a:srgbClr val="F1EFE8"/>
                      </a:solidFill>
                      <a:prstDash val="solid"/>
                      <a:round/>
                      <a:headEnd type="none" w="med" len="med"/>
                      <a:tailEnd type="none" w="med" len="med"/>
                    </a:lnL>
                    <a:lnR w="19050" cap="flat" cmpd="sng" algn="ctr">
                      <a:solidFill>
                        <a:srgbClr val="F1EFE8"/>
                      </a:solidFill>
                      <a:prstDash val="solid"/>
                      <a:round/>
                      <a:headEnd type="none" w="med" len="med"/>
                      <a:tailEnd type="none" w="med" len="med"/>
                    </a:lnR>
                    <a:lnT w="19050" cap="flat" cmpd="sng" algn="ctr">
                      <a:solidFill>
                        <a:srgbClr val="F1EFE8"/>
                      </a:solidFill>
                      <a:prstDash val="solid"/>
                      <a:round/>
                      <a:headEnd type="none" w="med" len="med"/>
                      <a:tailEnd type="none" w="med" len="med"/>
                    </a:lnT>
                    <a:lnB w="19050" cap="flat" cmpd="sng" algn="ctr">
                      <a:solidFill>
                        <a:srgbClr val="F1EFE8"/>
                      </a:solidFill>
                      <a:prstDash val="solid"/>
                      <a:round/>
                      <a:headEnd type="none" w="med" len="med"/>
                      <a:tailEnd type="none" w="med" len="med"/>
                    </a:lnB>
                    <a:solidFill>
                      <a:schemeClr val="bg1"/>
                    </a:solidFill>
                  </a:tcPr>
                </a:tc>
              </a:tr>
            </a:tbl>
          </a:graphicData>
        </a:graphic>
      </p:graphicFrame>
      <p:sp>
        <p:nvSpPr>
          <p:cNvPr id="5" name="Takeaway"/>
          <p:cNvSpPr txBox="1"/>
          <p:nvPr/>
        </p:nvSpPr>
        <p:spPr>
          <a:xfrm>
            <a:off x="548640" y="4754880"/>
            <a:ext cx="11094415" cy="1280160"/>
          </a:xfrm>
          <a:prstGeom prst="rect">
            <a:avLst/>
          </a:prstGeom>
          <a:noFill/>
          <a:ln/>
        </p:spPr>
        <p:txBody>
          <a:bodyPr wrap="square" lIns="0" tIns="0" rIns="0" bIns="0" rtlCol="0" anchor="t"/>
          <a:lstStyle/>
          <a:p>
            <a:pPr indent="0" marL="0">
              <a:buNone/>
            </a:pPr>
            <a:r>
              <a:rPr lang="en-US" sz="2000" dirty="0">
                <a:solidFill>
                  <a:schemeClr val="tx1"/>
                </a:solidFill>
              </a:rPr>
              <a:t>The signal lives in the </a:t>
            </a:r>
            <a:pPr indent="0" marL="0">
              <a:buNone/>
            </a:pPr>
            <a:r>
              <a:rPr lang="en-US" sz="2000" b="1" dirty="0">
                <a:solidFill>
                  <a:schemeClr val="tx1"/>
                </a:solidFill>
              </a:rPr>
              <a:t>higher levels</a:t>
            </a:r>
            <a:pPr indent="0" marL="0">
              <a:buNone/>
            </a:pPr>
            <a:r>
              <a:rPr lang="en-US" sz="2000" dirty="0">
                <a:solidFill>
                  <a:schemeClr val="tx1"/>
                </a:solidFill>
              </a:rPr>
              <a:t> of the cohesion hierarchy: on Facebook only k ≥ 3 brokers help, on Yeast only the full hierarchy reaches the best R, and plain articulation points </a:t>
            </a:r>
            <a:pPr indent="0" marL="0">
              <a:buNone/>
            </a:pPr>
            <a:r>
              <a:rPr lang="en-US" sz="2000" b="1" dirty="0">
                <a:solidFill>
                  <a:schemeClr val="tx1"/>
                </a:solidFill>
              </a:rPr>
              <a:t>hurt</a:t>
            </a:r>
            <a:pPr indent="0" marL="0">
              <a:buNone/>
            </a:pPr>
            <a:r>
              <a:rPr lang="en-US" sz="2000" dirty="0">
                <a:solidFill>
                  <a:schemeClr val="tx1"/>
                </a:solidFill>
              </a:rPr>
              <a:t> the power grid.</a:t>
            </a:r>
            <a:endParaRPr lang="en-US" sz="2000" dirty="0"/>
          </a:p>
        </p:txBody>
      </p:sp>
      <p:sp>
        <p:nvSpPr>
          <p:cNvPr id="6" name="Footnote"/>
          <p:cNvSpPr txBox="1"/>
          <p:nvPr/>
        </p:nvSpPr>
        <p:spPr>
          <a:xfrm>
            <a:off x="548640" y="6355080"/>
            <a:ext cx="10241280" cy="274320"/>
          </a:xfrm>
          <a:prstGeom prst="rect">
            <a:avLst/>
          </a:prstGeom>
          <a:noFill/>
          <a:ln/>
        </p:spPr>
        <p:txBody>
          <a:bodyPr wrap="square" lIns="0" tIns="0" rIns="0" bIns="0" rtlCol="0" anchor="ctr"/>
          <a:lstStyle/>
          <a:p>
            <a:pPr indent="0" marL="0">
              <a:buNone/>
            </a:pPr>
            <a:r>
              <a:rPr lang="en-US" sz="1100" dirty="0">
                <a:solidFill>
                  <a:schemeClr val="accent6"/>
                </a:solidFill>
              </a:rPr>
              <a:t>All orderings remove flagged nodes first, then the rest by degree</a:t>
            </a:r>
            <a:endParaRPr lang="en-US" sz="11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1143000"/>
          </a:xfrm>
          <a:prstGeom prst="rect">
            <a:avLst/>
          </a:prstGeom>
          <a:noFill/>
          <a:ln/>
        </p:spPr>
        <p:txBody>
          <a:bodyPr wrap="square" lIns="0" tIns="0" rIns="0" bIns="0" rtlCol="0" anchor="t"/>
          <a:lstStyle/>
          <a:p>
            <a:pPr algn="l" indent="0" marL="0">
              <a:buNone/>
            </a:pPr>
            <a:r>
              <a:rPr lang="en-US" sz="3400" b="1" dirty="0">
                <a:solidFill>
                  <a:schemeClr val="tx1"/>
                </a:solidFill>
              </a:rPr>
              <a:t>RQ3 · Hybrids do not help on held-out networks</a:t>
            </a:r>
            <a:endParaRPr lang="en-US" sz="3400" dirty="0"/>
          </a:p>
        </p:txBody>
      </p:sp>
      <p:sp>
        <p:nvSpPr>
          <p:cNvPr id="4" name="Formula panel"/>
          <p:cNvSpPr/>
          <p:nvPr/>
        </p:nvSpPr>
        <p:spPr>
          <a:xfrm>
            <a:off x="548640" y="1691640"/>
            <a:ext cx="11094415" cy="1234440"/>
          </a:xfrm>
          <a:prstGeom prst="roundRect">
            <a:avLst>
              <a:gd name="adj" fmla="val 8889"/>
            </a:avLst>
          </a:prstGeom>
          <a:solidFill>
            <a:schemeClr val="bg2"/>
          </a:solidFill>
          <a:ln/>
        </p:spPr>
      </p:sp>
      <p:sp>
        <p:nvSpPr>
          <p:cNvPr id="5" name="Formula"/>
          <p:cNvSpPr txBox="1"/>
          <p:nvPr/>
        </p:nvSpPr>
        <p:spPr>
          <a:xfrm>
            <a:off x="914400" y="1691640"/>
            <a:ext cx="10362895" cy="123444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H(λ) = λ·rank(coreness) + (1−λ)·rank(x)</a:t>
            </a:r>
            <a:endParaRPr lang="en-US" sz="2200" dirty="0"/>
          </a:p>
          <a:p>
            <a:pPr indent="0" marL="0">
              <a:buNone/>
            </a:pPr>
            <a:r>
              <a:rPr lang="en-US" sz="1500" dirty="0">
                <a:solidFill>
                  <a:schemeClr val="tx2"/>
                </a:solidFill>
              </a:rPr>
              <a:t>λ tuned on training networks, tested only on held-out ones (2-fold by domain and leave-one-out).</a:t>
            </a:r>
            <a:endParaRPr lang="en-US" sz="2200" dirty="0"/>
          </a:p>
        </p:txBody>
      </p:sp>
      <p:sp>
        <p:nvSpPr>
          <p:cNvPr id="6" name="Result card 1"/>
          <p:cNvSpPr/>
          <p:nvPr/>
        </p:nvSpPr>
        <p:spPr>
          <a:xfrm>
            <a:off x="548640" y="3154680"/>
            <a:ext cx="5442052" cy="2926080"/>
          </a:xfrm>
          <a:prstGeom prst="roundRect">
            <a:avLst>
              <a:gd name="adj" fmla="val 3750"/>
            </a:avLst>
          </a:prstGeom>
          <a:solidFill>
            <a:schemeClr val="bg2"/>
          </a:solidFill>
          <a:ln/>
        </p:spPr>
      </p:sp>
      <p:sp>
        <p:nvSpPr>
          <p:cNvPr id="7" name="Marker 1"/>
          <p:cNvSpPr txBox="1"/>
          <p:nvPr/>
        </p:nvSpPr>
        <p:spPr>
          <a:xfrm>
            <a:off x="914400" y="3474720"/>
            <a:ext cx="365760" cy="365760"/>
          </a:xfrm>
          <a:prstGeom prst="ellipse">
            <a:avLst/>
          </a:prstGeom>
          <a:solidFill>
            <a:schemeClr val="accent2"/>
          </a:solidFill>
          <a:ln/>
        </p:spPr>
        <p:txBody>
          <a:bodyPr wrap="square" lIns="0" tIns="0" rIns="0" bIns="0" rtlCol="0" anchor="ctr"/>
          <a:lstStyle/>
          <a:p>
            <a:pPr algn="ctr" indent="0" marL="0">
              <a:buNone/>
            </a:pPr>
            <a:endParaRPr lang="en-US" sz="1000" dirty="0"/>
          </a:p>
        </p:txBody>
      </p:sp>
      <p:sp>
        <p:nvSpPr>
          <p:cNvPr id="8" name="Result heading 1"/>
          <p:cNvSpPr txBox="1"/>
          <p:nvPr/>
        </p:nvSpPr>
        <p:spPr>
          <a:xfrm>
            <a:off x="1463040" y="3429000"/>
            <a:ext cx="4161892" cy="4572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core + cohesion</a:t>
            </a:r>
            <a:endParaRPr lang="en-US" sz="2400" dirty="0"/>
          </a:p>
        </p:txBody>
      </p:sp>
      <p:sp>
        <p:nvSpPr>
          <p:cNvPr id="9" name="Result body 1"/>
          <p:cNvSpPr txBox="1"/>
          <p:nvPr/>
        </p:nvSpPr>
        <p:spPr>
          <a:xfrm>
            <a:off x="914400" y="4114800"/>
            <a:ext cx="4710532" cy="1783080"/>
          </a:xfrm>
          <a:prstGeom prst="rect">
            <a:avLst/>
          </a:prstGeom>
          <a:noFill/>
          <a:ln/>
        </p:spPr>
        <p:txBody>
          <a:bodyPr wrap="square" lIns="0" tIns="0" rIns="0" bIns="0" rtlCol="0" anchor="t"/>
          <a:lstStyle/>
          <a:p>
            <a:pPr indent="0" marL="0">
              <a:buNone/>
            </a:pPr>
            <a:r>
              <a:rPr lang="en-US" sz="2000" dirty="0">
                <a:solidFill>
                  <a:schemeClr val="tx2"/>
                </a:solidFill>
              </a:rPr>
              <a:t>0 held-out wins against the better single score; λ* flips between 0 and 1. Two near-identical rankings cannot complement each other. </a:t>
            </a:r>
            <a:pPr indent="0" marL="0">
              <a:buNone/>
            </a:pPr>
            <a:r>
              <a:rPr lang="en-US" sz="2000" b="1" dirty="0">
                <a:solidFill>
                  <a:schemeClr val="tx1"/>
                </a:solidFill>
              </a:rPr>
              <a:t>H3 not supported.</a:t>
            </a:r>
            <a:endParaRPr lang="en-US" sz="2000" dirty="0"/>
          </a:p>
        </p:txBody>
      </p:sp>
      <p:sp>
        <p:nvSpPr>
          <p:cNvPr id="10" name="Result card 2"/>
          <p:cNvSpPr/>
          <p:nvPr/>
        </p:nvSpPr>
        <p:spPr>
          <a:xfrm>
            <a:off x="6201004" y="3154680"/>
            <a:ext cx="5442052" cy="2926080"/>
          </a:xfrm>
          <a:prstGeom prst="roundRect">
            <a:avLst>
              <a:gd name="adj" fmla="val 3750"/>
            </a:avLst>
          </a:prstGeom>
          <a:solidFill>
            <a:schemeClr val="bg2"/>
          </a:solidFill>
          <a:ln/>
        </p:spPr>
      </p:sp>
      <p:sp>
        <p:nvSpPr>
          <p:cNvPr id="11" name="Marker 2"/>
          <p:cNvSpPr txBox="1"/>
          <p:nvPr/>
        </p:nvSpPr>
        <p:spPr>
          <a:xfrm>
            <a:off x="6566764" y="3474720"/>
            <a:ext cx="365760" cy="365760"/>
          </a:xfrm>
          <a:prstGeom prst="ellipse">
            <a:avLst/>
          </a:prstGeom>
          <a:solidFill>
            <a:schemeClr val="accent3"/>
          </a:solidFill>
          <a:ln/>
        </p:spPr>
        <p:txBody>
          <a:bodyPr wrap="square" lIns="0" tIns="0" rIns="0" bIns="0" rtlCol="0" anchor="ctr"/>
          <a:lstStyle/>
          <a:p>
            <a:pPr algn="ctr" indent="0" marL="0">
              <a:buNone/>
            </a:pPr>
            <a:endParaRPr lang="en-US" sz="1000" dirty="0"/>
          </a:p>
        </p:txBody>
      </p:sp>
      <p:sp>
        <p:nvSpPr>
          <p:cNvPr id="12" name="Result heading 2"/>
          <p:cNvSpPr txBox="1"/>
          <p:nvPr/>
        </p:nvSpPr>
        <p:spPr>
          <a:xfrm>
            <a:off x="7115404" y="3429000"/>
            <a:ext cx="4161892" cy="4572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core + brokerage</a:t>
            </a:r>
            <a:endParaRPr lang="en-US" sz="2400" dirty="0"/>
          </a:p>
        </p:txBody>
      </p:sp>
      <p:sp>
        <p:nvSpPr>
          <p:cNvPr id="13" name="Result body 2"/>
          <p:cNvSpPr txBox="1"/>
          <p:nvPr/>
        </p:nvSpPr>
        <p:spPr>
          <a:xfrm>
            <a:off x="6566764" y="4114800"/>
            <a:ext cx="4710532" cy="1783080"/>
          </a:xfrm>
          <a:prstGeom prst="rect">
            <a:avLst/>
          </a:prstGeom>
          <a:noFill/>
          <a:ln/>
        </p:spPr>
        <p:txBody>
          <a:bodyPr wrap="square" lIns="0" tIns="0" rIns="0" bIns="0" rtlCol="0" anchor="t"/>
          <a:lstStyle/>
          <a:p>
            <a:pPr indent="0" marL="0">
              <a:buNone/>
            </a:pPr>
            <a:r>
              <a:rPr lang="en-US" sz="2000" dirty="0">
                <a:solidFill>
                  <a:schemeClr val="tx2"/>
                </a:solidFill>
              </a:rPr>
              <a:t>Every training fold picks λ* = 0, i.e. pure brokerage. Adding coreness only hurts: the best “hybrid” is brokerage itself.</a:t>
            </a:r>
            <a:endParaRPr lang="en-US" sz="2000" dirty="0"/>
          </a:p>
        </p:txBody>
      </p:sp>
      <p:sp>
        <p:nvSpPr>
          <p:cNvPr id="14" name="Footnote"/>
          <p:cNvSpPr txBox="1"/>
          <p:nvPr/>
        </p:nvSpPr>
        <p:spPr>
          <a:xfrm>
            <a:off x="548640" y="6355080"/>
            <a:ext cx="10241280" cy="274320"/>
          </a:xfrm>
          <a:prstGeom prst="rect">
            <a:avLst/>
          </a:prstGeom>
          <a:noFill/>
          <a:ln/>
        </p:spPr>
        <p:txBody>
          <a:bodyPr wrap="square" lIns="0" tIns="0" rIns="0" bIns="0" rtlCol="0" anchor="ctr"/>
          <a:lstStyle/>
          <a:p>
            <a:pPr indent="0" marL="0">
              <a:buNone/>
            </a:pPr>
            <a:r>
              <a:rPr lang="en-US" sz="1100" dirty="0">
                <a:solidFill>
                  <a:schemeClr val="accent6"/>
                </a:solidFill>
              </a:rPr>
              <a:t>Tuning and testing on the same networks would have overstated any hybrid gain</a:t>
            </a:r>
            <a:endParaRPr lang="en-US" sz="11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11094415" cy="1280160"/>
          </a:xfrm>
          <a:prstGeom prst="rect">
            <a:avLst/>
          </a:prstGeom>
          <a:noFill/>
          <a:ln/>
        </p:spPr>
        <p:txBody>
          <a:bodyPr wrap="square" lIns="0" tIns="0" rIns="0" bIns="0" rtlCol="0" anchor="t"/>
          <a:lstStyle/>
          <a:p>
            <a:pPr algn="l" indent="0" marL="0">
              <a:buNone/>
            </a:pPr>
            <a:r>
              <a:rPr lang="en-US" sz="3400" b="1" dirty="0">
                <a:solidFill>
                  <a:schemeClr val="bg1"/>
                </a:solidFill>
              </a:rPr>
              <a:t>They agree on </a:t>
            </a:r>
            <a:pPr algn="l" indent="0" marL="0">
              <a:buNone/>
            </a:pPr>
            <a:r>
              <a:rPr lang="en-US" sz="3400" b="1" i="1" dirty="0">
                <a:solidFill>
                  <a:schemeClr val="bg1"/>
                </a:solidFill>
              </a:rPr>
              <a:t>who</a:t>
            </a:r>
            <a:pPr algn="l" indent="0" marL="0">
              <a:buNone/>
            </a:pPr>
            <a:r>
              <a:rPr lang="en-US" sz="3400" b="1" dirty="0">
                <a:solidFill>
                  <a:schemeClr val="bg1"/>
                </a:solidFill>
              </a:rPr>
              <a:t> is central, not on </a:t>
            </a:r>
            <a:pPr algn="l" indent="0" marL="0">
              <a:buNone/>
            </a:pPr>
            <a:r>
              <a:rPr lang="en-US" sz="3400" b="1" i="1" dirty="0">
                <a:solidFill>
                  <a:schemeClr val="bg1"/>
                </a:solidFill>
              </a:rPr>
              <a:t>how</a:t>
            </a:r>
            <a:pPr algn="l" indent="0" marL="0">
              <a:buNone/>
            </a:pPr>
            <a:r>
              <a:rPr lang="en-US" sz="3400" b="1" dirty="0">
                <a:solidFill>
                  <a:schemeClr val="bg1"/>
                </a:solidFill>
              </a:rPr>
              <a:t> the centre is organised</a:t>
            </a:r>
            <a:endParaRPr lang="en-US" sz="3400" dirty="0"/>
          </a:p>
        </p:txBody>
      </p:sp>
      <p:sp>
        <p:nvSpPr>
          <p:cNvPr id="4" name="Takeaway card 1"/>
          <p:cNvSpPr/>
          <p:nvPr/>
        </p:nvSpPr>
        <p:spPr>
          <a:xfrm>
            <a:off x="548640" y="2103120"/>
            <a:ext cx="5442052" cy="1417320"/>
          </a:xfrm>
          <a:prstGeom prst="roundRect">
            <a:avLst>
              <a:gd name="adj" fmla="val 7742"/>
            </a:avLst>
          </a:prstGeom>
          <a:solidFill>
            <a:schemeClr val="bg1">
              <a:alpha val="8000"/>
            </a:schemeClr>
          </a:solidFill>
          <a:ln/>
        </p:spPr>
      </p:sp>
      <p:sp>
        <p:nvSpPr>
          <p:cNvPr id="5" name="Takeaway 1"/>
          <p:cNvSpPr txBox="1"/>
          <p:nvPr/>
        </p:nvSpPr>
        <p:spPr>
          <a:xfrm>
            <a:off x="914400" y="2194560"/>
            <a:ext cx="4710532" cy="1234440"/>
          </a:xfrm>
          <a:prstGeom prst="rect">
            <a:avLst/>
          </a:prstGeom>
          <a:noFill/>
          <a:ln/>
        </p:spPr>
        <p:txBody>
          <a:bodyPr wrap="square" lIns="0" tIns="0" rIns="0" bIns="0" rtlCol="0" anchor="ctr"/>
          <a:lstStyle/>
          <a:p>
            <a:pPr indent="0" marL="0">
              <a:buNone/>
            </a:pPr>
            <a:r>
              <a:rPr lang="en-US" sz="1800" b="1" dirty="0">
                <a:solidFill>
                  <a:schemeClr val="bg1"/>
                </a:solidFill>
              </a:rPr>
              <a:t>Ranking only? </a:t>
            </a:r>
            <a:pPr indent="0" marL="0">
              <a:buNone/>
            </a:pPr>
            <a:r>
              <a:rPr lang="en-US" sz="1800" dirty="0">
                <a:solidFill>
                  <a:schemeClr val="accent5"/>
                </a:solidFill>
              </a:rPr>
              <a:t>Use the k-core — it matches cohesion levels (ρ ≥ 0.99) at linear cost.</a:t>
            </a:r>
            <a:endParaRPr lang="en-US" sz="1800" dirty="0"/>
          </a:p>
        </p:txBody>
      </p:sp>
      <p:sp>
        <p:nvSpPr>
          <p:cNvPr id="6" name="Takeaway card 2"/>
          <p:cNvSpPr/>
          <p:nvPr/>
        </p:nvSpPr>
        <p:spPr>
          <a:xfrm>
            <a:off x="6201004" y="2103120"/>
            <a:ext cx="5442052" cy="1417320"/>
          </a:xfrm>
          <a:prstGeom prst="roundRect">
            <a:avLst>
              <a:gd name="adj" fmla="val 7742"/>
            </a:avLst>
          </a:prstGeom>
          <a:solidFill>
            <a:schemeClr val="bg1">
              <a:alpha val="8000"/>
            </a:schemeClr>
          </a:solidFill>
          <a:ln/>
        </p:spPr>
      </p:sp>
      <p:sp>
        <p:nvSpPr>
          <p:cNvPr id="7" name="Takeaway 2"/>
          <p:cNvSpPr txBox="1"/>
          <p:nvPr/>
        </p:nvSpPr>
        <p:spPr>
          <a:xfrm>
            <a:off x="6566764" y="2194560"/>
            <a:ext cx="4710532" cy="1234440"/>
          </a:xfrm>
          <a:prstGeom prst="rect">
            <a:avLst/>
          </a:prstGeom>
          <a:noFill/>
          <a:ln/>
        </p:spPr>
        <p:txBody>
          <a:bodyPr wrap="square" lIns="0" tIns="0" rIns="0" bIns="0" rtlCol="0" anchor="ctr"/>
          <a:lstStyle/>
          <a:p>
            <a:pPr indent="0" marL="0">
              <a:buNone/>
            </a:pPr>
            <a:r>
              <a:rPr lang="en-US" sz="1800" b="1" dirty="0">
                <a:solidFill>
                  <a:schemeClr val="bg1"/>
                </a:solidFill>
              </a:rPr>
              <a:t>Organisation? </a:t>
            </a:r>
            <a:pPr indent="0" marL="0">
              <a:buNone/>
            </a:pPr>
            <a:r>
              <a:rPr lang="en-US" sz="1800" dirty="0">
                <a:solidFill>
                  <a:schemeClr val="accent5"/>
                </a:solidFill>
              </a:rPr>
              <a:t>Check cohesion: a k-core may be a federation of overlapping cohesive groups.</a:t>
            </a:r>
            <a:endParaRPr lang="en-US" sz="1800" dirty="0"/>
          </a:p>
        </p:txBody>
      </p:sp>
      <p:sp>
        <p:nvSpPr>
          <p:cNvPr id="8" name="Takeaway card 3"/>
          <p:cNvSpPr/>
          <p:nvPr/>
        </p:nvSpPr>
        <p:spPr>
          <a:xfrm>
            <a:off x="548640" y="3703320"/>
            <a:ext cx="5442052" cy="1417320"/>
          </a:xfrm>
          <a:prstGeom prst="roundRect">
            <a:avLst>
              <a:gd name="adj" fmla="val 7742"/>
            </a:avLst>
          </a:prstGeom>
          <a:solidFill>
            <a:schemeClr val="bg1">
              <a:alpha val="8000"/>
            </a:schemeClr>
          </a:solidFill>
          <a:ln/>
        </p:spPr>
      </p:sp>
      <p:sp>
        <p:nvSpPr>
          <p:cNvPr id="9" name="Takeaway 3"/>
          <p:cNvSpPr txBox="1"/>
          <p:nvPr/>
        </p:nvSpPr>
        <p:spPr>
          <a:xfrm>
            <a:off x="914400" y="3794760"/>
            <a:ext cx="4710532" cy="1234440"/>
          </a:xfrm>
          <a:prstGeom prst="rect">
            <a:avLst/>
          </a:prstGeom>
          <a:noFill/>
          <a:ln/>
        </p:spPr>
        <p:txBody>
          <a:bodyPr wrap="square" lIns="0" tIns="0" rIns="0" bIns="0" rtlCol="0" anchor="ctr"/>
          <a:lstStyle/>
          <a:p>
            <a:pPr indent="0" marL="0">
              <a:buNone/>
            </a:pPr>
            <a:r>
              <a:rPr lang="en-US" sz="1800" b="1" dirty="0">
                <a:solidFill>
                  <a:schemeClr val="bg1"/>
                </a:solidFill>
              </a:rPr>
              <a:t>Vulnerability? </a:t>
            </a:r>
            <a:pPr indent="0" marL="0">
              <a:buNone/>
            </a:pPr>
            <a:r>
              <a:rPr lang="en-US" sz="1800" dirty="0">
                <a:solidFill>
                  <a:schemeClr val="accent5"/>
                </a:solidFill>
              </a:rPr>
              <a:t>Brokers between k-components are critical, most where groups disagree.</a:t>
            </a:r>
            <a:endParaRPr lang="en-US" sz="1800" dirty="0"/>
          </a:p>
        </p:txBody>
      </p:sp>
      <p:sp>
        <p:nvSpPr>
          <p:cNvPr id="10" name="Takeaway card 4"/>
          <p:cNvSpPr/>
          <p:nvPr/>
        </p:nvSpPr>
        <p:spPr>
          <a:xfrm>
            <a:off x="6201004" y="3703320"/>
            <a:ext cx="5442052" cy="1417320"/>
          </a:xfrm>
          <a:prstGeom prst="roundRect">
            <a:avLst>
              <a:gd name="adj" fmla="val 7742"/>
            </a:avLst>
          </a:prstGeom>
          <a:solidFill>
            <a:schemeClr val="bg1">
              <a:alpha val="8000"/>
            </a:schemeClr>
          </a:solidFill>
          <a:ln/>
        </p:spPr>
      </p:sp>
      <p:sp>
        <p:nvSpPr>
          <p:cNvPr id="11" name="Takeaway 4"/>
          <p:cNvSpPr txBox="1"/>
          <p:nvPr/>
        </p:nvSpPr>
        <p:spPr>
          <a:xfrm>
            <a:off x="6566764" y="3794760"/>
            <a:ext cx="4710532" cy="1234440"/>
          </a:xfrm>
          <a:prstGeom prst="rect">
            <a:avLst/>
          </a:prstGeom>
          <a:noFill/>
          <a:ln/>
        </p:spPr>
        <p:txBody>
          <a:bodyPr wrap="square" lIns="0" tIns="0" rIns="0" bIns="0" rtlCol="0" anchor="ctr"/>
          <a:lstStyle/>
          <a:p>
            <a:pPr indent="0" marL="0">
              <a:buNone/>
            </a:pPr>
            <a:r>
              <a:rPr lang="en-US" sz="1800" b="1" dirty="0">
                <a:solidFill>
                  <a:schemeClr val="bg1"/>
                </a:solidFill>
              </a:rPr>
              <a:t>Limits: </a:t>
            </a:r>
            <a:pPr indent="0" marL="0">
              <a:buNone/>
            </a:pPr>
            <a:r>
              <a:rPr lang="en-US" sz="1800" dirty="0">
                <a:solidFill>
                  <a:schemeClr val="accent5"/>
                </a:solidFill>
              </a:rPr>
              <a:t>8 networks, static attacks, unweighted graphs, degree-only null model.</a:t>
            </a:r>
            <a:endParaRPr lang="en-US" sz="1800" dirty="0"/>
          </a:p>
        </p:txBody>
      </p:sp>
      <p:sp>
        <p:nvSpPr>
          <p:cNvPr id="12" name="Next steps"/>
          <p:cNvSpPr txBox="1"/>
          <p:nvPr/>
        </p:nvSpPr>
        <p:spPr>
          <a:xfrm>
            <a:off x="548640" y="5440680"/>
            <a:ext cx="11094415" cy="457200"/>
          </a:xfrm>
          <a:prstGeom prst="rect">
            <a:avLst/>
          </a:prstGeom>
          <a:noFill/>
          <a:ln/>
        </p:spPr>
        <p:txBody>
          <a:bodyPr wrap="square" lIns="0" tIns="0" rIns="0" bIns="0" rtlCol="0" anchor="ctr"/>
          <a:lstStyle/>
          <a:p>
            <a:pPr indent="0" marL="0">
              <a:buNone/>
            </a:pPr>
            <a:r>
              <a:rPr lang="en-US" sz="1800" dirty="0">
                <a:solidFill>
                  <a:schemeClr val="accent4"/>
                </a:solidFill>
              </a:rPr>
              <a:t>Next: adaptive brokerage, weighted cohesion, clustering-preserving null models.</a:t>
            </a:r>
            <a:endParaRPr lang="en-US" sz="1800" dirty="0"/>
          </a:p>
        </p:txBody>
      </p:sp>
      <p:sp>
        <p:nvSpPr>
          <p:cNvPr id="13" name="Footnote"/>
          <p:cNvSpPr txBox="1"/>
          <p:nvPr/>
        </p:nvSpPr>
        <p:spPr>
          <a:xfrm>
            <a:off x="548640" y="6355080"/>
            <a:ext cx="10241280" cy="274320"/>
          </a:xfrm>
          <a:prstGeom prst="rect">
            <a:avLst/>
          </a:prstGeom>
          <a:noFill/>
          <a:ln/>
        </p:spPr>
        <p:txBody>
          <a:bodyPr wrap="square" lIns="0" tIns="0" rIns="0" bIns="0" rtlCol="0" anchor="ctr"/>
          <a:lstStyle/>
          <a:p>
            <a:pPr indent="0" marL="0">
              <a:buNone/>
            </a:pPr>
            <a:r>
              <a:rPr lang="en-US" sz="1100" dirty="0">
                <a:solidFill>
                  <a:schemeClr val="accent5"/>
                </a:solidFill>
              </a:rPr>
              <a:t>Code, data pipeline and paper: reproducible with fixed seeds · Questions?</a:t>
            </a:r>
            <a:endParaRPr lang="en-US" sz="11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Core Notions">
  <a:themeElements>
    <a:clrScheme name="Core Notions">
      <a:dk1>
        <a:srgbClr val="14213D"/>
      </a:dk1>
      <a:lt1>
        <a:srgbClr val="FFFFFF"/>
      </a:lt1>
      <a:dk2>
        <a:srgbClr val="4A5568"/>
      </a:dk2>
      <a:lt2>
        <a:srgbClr val="F1EFE8"/>
      </a:lt2>
      <a:accent1>
        <a:srgbClr val="2A78D6"/>
      </a:accent1>
      <a:accent2>
        <a:srgbClr val="EB6834"/>
      </a:accent2>
      <a:accent3>
        <a:srgbClr val="1BAF7A"/>
      </a:accent3>
      <a:accent4>
        <a:srgbClr val="F29A6E"/>
      </a:accent4>
      <a:accent5>
        <a:srgbClr val="C9D3E3"/>
      </a:accent5>
      <a:accent6>
        <a:srgbClr val="6B7486"/>
      </a:accent6>
      <a:hlink>
        <a:srgbClr val="2A78D6"/>
      </a:hlink>
      <a:folHlink>
        <a:srgbClr val="6B7486"/>
      </a:folHlink>
    </a:clrScheme>
    <a:fontScheme name="Core Notio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Two Notions of “Core” Agree?</dc:title>
  <dc:subject>PptxGenJS Presentation</dc:subject>
  <dc:creator>Sujan S, Diravina E I</dc:creator>
  <cp:lastModifiedBy>Sujan S, Diravina E I</cp:lastModifiedBy>
  <cp:revision>1</cp:revision>
  <dcterms:created xsi:type="dcterms:W3CDTF">2026-10-23T06:16:07Z</dcterms:created>
  <dcterms:modified xsi:type="dcterms:W3CDTF">2026-10-23T06:16:07Z</dcterms:modified>
</cp:coreProperties>
</file>